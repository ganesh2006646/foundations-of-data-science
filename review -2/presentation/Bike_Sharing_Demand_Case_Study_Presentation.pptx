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professors and evaluators. Today we present an end-to-end data science case study on the Capital Bikeshare System in Washington D.C. This project encompasses comprehensive exploratory analysis, six formal statistical hypothesis tests, machine learning regression validation, and a full-stack dashboard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define our problem. Station stockouts and overfills are the biggest operational costs in bike sharing. Our analytical objective is to uncover behavioral patterns, validate them statistically, and provide predictive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dataset comes from the UCI repository and covers two full years of real operational data. Notice the crucial dichotomy between casual and registered users, which makes up total demand.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Preprocessing included verifying zero nulls, denormalizing the weather metrics back into standard Celsius and humidity units, and creating operational time-of-day bins.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EDA revealed four foundational patterns: the bimodal commuter peak on weekdays, the massive 64% annual growth, the harsh weather penalty, and the thermal comfort sweet spot between 20 and 28 degrees Celsius.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6, we address the 8-mark hypothesis testing criteria. We ran 6 formal tests: two t-tests, two ANOVAs, a Pearson correlation test, and a Chi-Square test of independence. All 6 rejected the null hypothesis with overwhelming statistical significance, proving our operational decisions mathematically.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covers our regression and prediction modeling. Random Forest achieved an R-squared of nearly 89%, reducing prediction error to just 439 bikes per day. Notice that temperature and year are the top two features, validating our earlier findings.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showcases our BI integration. We structured the dashboard with executive KPI cards, an hourly commuter matrix, and live ML prediction tracking, fulfilling the full-stack architecture for bonus marks.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translates data science into business action: proactive 30-minute rebalancing windows, rainy-day maintenance scheduling, weekend casual subscription conversion, and predictive truck dispatching.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while the project demonstrates high predictive power and rigorous statistical proof, we acknowledge key limitations including network-level aggregation and the absence of localized station routing.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highlights future work: spatial graph optimization, deep learning time-series forecasting, dynamic crowd-sourced rebalancing incentives, and live weather API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Slide 12 provides all formal academic citations and attribution to the UCI repository and original authors. Thank you for your time, and we are now ready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32720" cy="2743200"/>
          </a:xfrm>
          <a:prstGeom prst="rect">
            <a:avLst/>
          </a:prstGeom>
          <a:noFill/>
        </p:spPr>
        <p:txBody>
          <a:bodyPr wrap="none">
            <a:spAutoFit/>
          </a:bodyPr>
          <a:lstStyle/>
          <a:p>
            <a:pPr>
              <a:defRPr sz="1300" b="1">
                <a:solidFill>
                  <a:srgbClr val="107C8A"/>
                </a:solidFill>
              </a:defRPr>
            </a:pPr>
            <a:r>
              <a:t>FOUNDATIONS OF DATA SCIENCE — LAB EVALUATION 2</a:t>
            </a:r>
          </a:p>
          <a:p>
            <a:pPr>
              <a:defRPr sz="3600" b="1">
                <a:solidFill>
                  <a:srgbClr val="FFFFFF"/>
                </a:solidFill>
              </a:defRPr>
            </a:pPr>
            <a:r>
              <a:t>Bike Sharing Demand Analysis</a:t>
            </a:r>
          </a:p>
          <a:p>
            <a:pPr>
              <a:defRPr sz="1800">
                <a:solidFill>
                  <a:srgbClr val="C8DCF0"/>
                </a:solidFill>
              </a:defRPr>
            </a:pPr>
            <a:r>
              <a:t>An End-to-End Case Study: EDA, Hypothesis Testing, ML Regression &amp; Power BI Dashboard</a:t>
            </a:r>
          </a:p>
        </p:txBody>
      </p:sp>
      <p:sp>
        <p:nvSpPr>
          <p:cNvPr id="4" name="Rounded Rectangle 3"/>
          <p:cNvSpPr/>
          <p:nvPr/>
        </p:nvSpPr>
        <p:spPr>
          <a:xfrm>
            <a:off x="914400" y="4572000"/>
            <a:ext cx="10362895" cy="1371600"/>
          </a:xfrm>
          <a:prstGeom prst="roundRect">
            <a:avLst/>
          </a:prstGeom>
          <a:solidFill>
            <a:srgbClr val="223A5E"/>
          </a:solidFill>
          <a:ln w="19050">
            <a:solidFill>
              <a:srgbClr val="107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4709160"/>
            <a:ext cx="9784080" cy="1097280"/>
          </a:xfrm>
          <a:prstGeom prst="rect">
            <a:avLst/>
          </a:prstGeom>
          <a:noFill/>
        </p:spPr>
        <p:txBody>
          <a:bodyPr wrap="square">
            <a:spAutoFit/>
          </a:bodyPr>
          <a:lstStyle/>
          <a:p>
            <a:pPr>
              <a:defRPr sz="1400" b="1">
                <a:solidFill>
                  <a:srgbClr val="FFFFFF"/>
                </a:solidFill>
              </a:defRPr>
            </a:pPr>
            <a:r>
              <a:t>Student Name: [Your Name]   |   Register Number: [Your Reg No]   |   Department: Computer Science &amp; Engineering</a:t>
            </a:r>
          </a:p>
          <a:p>
            <a:pPr>
              <a:defRPr sz="1200">
                <a:solidFill>
                  <a:srgbClr val="B4CDE6"/>
                </a:solidFill>
              </a:defRPr>
            </a:pPr>
            <a:r>
              <a:t>Course: 23CSE351 — Foundations of Data Science   |   Dataset: Capital Bikeshare System (UCI ML Repository)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none">
            <a:spAutoFit/>
          </a:bodyPr>
          <a:lstStyle/>
          <a:p>
            <a:pPr>
              <a:defRPr sz="1000" b="1">
                <a:solidFill>
                  <a:srgbClr val="107C8A"/>
                </a:solidFill>
              </a:defRPr>
            </a:pPr>
            <a:r>
              <a:t>SLIDE 2 OF 12</a:t>
            </a:r>
          </a:p>
        </p:txBody>
      </p:sp>
      <p:sp>
        <p:nvSpPr>
          <p:cNvPr id="5" name="TextBox 4"/>
          <p:cNvSpPr txBox="1"/>
          <p:nvPr/>
        </p:nvSpPr>
        <p:spPr>
          <a:xfrm>
            <a:off x="731520" y="365760"/>
            <a:ext cx="10698480" cy="548640"/>
          </a:xfrm>
          <a:prstGeom prst="rect">
            <a:avLst/>
          </a:prstGeom>
          <a:noFill/>
        </p:spPr>
        <p:txBody>
          <a:bodyPr wrap="none">
            <a:spAutoFit/>
          </a:bodyPr>
          <a:lstStyle/>
          <a:p>
            <a:pPr>
              <a:defRPr sz="2200" b="1">
                <a:solidFill>
                  <a:srgbClr val="FFFFFF"/>
                </a:solidFill>
              </a:defRPr>
            </a:pPr>
            <a:r>
              <a:t>Problem Statement &amp; Analytical Objectives</a:t>
            </a:r>
          </a:p>
        </p:txBody>
      </p:sp>
      <p:sp>
        <p:nvSpPr>
          <p:cNvPr id="6" name="Rounded Rectangle 5"/>
          <p:cNvSpPr/>
          <p:nvPr/>
        </p:nvSpPr>
        <p:spPr>
          <a:xfrm>
            <a:off x="731520" y="1280160"/>
            <a:ext cx="5120640" cy="50292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19"/>
            <a:ext cx="4663440" cy="365760"/>
          </a:xfrm>
          <a:prstGeom prst="rect">
            <a:avLst/>
          </a:prstGeom>
          <a:noFill/>
        </p:spPr>
        <p:txBody>
          <a:bodyPr wrap="none">
            <a:spAutoFit/>
          </a:bodyPr>
          <a:lstStyle/>
          <a:p>
            <a:pPr>
              <a:defRPr sz="1400" b="1">
                <a:solidFill>
                  <a:srgbClr val="182B49"/>
                </a:solidFill>
              </a:defRPr>
            </a:pPr>
            <a:r>
              <a:t>1. Business Background &amp; Challenge</a:t>
            </a:r>
          </a:p>
        </p:txBody>
      </p:sp>
      <p:sp>
        <p:nvSpPr>
          <p:cNvPr id="8" name="TextBox 7"/>
          <p:cNvSpPr txBox="1"/>
          <p:nvPr/>
        </p:nvSpPr>
        <p:spPr>
          <a:xfrm>
            <a:off x="914400" y="1828800"/>
            <a:ext cx="4754880" cy="4297680"/>
          </a:xfrm>
          <a:prstGeom prst="rect">
            <a:avLst/>
          </a:prstGeom>
          <a:noFill/>
        </p:spPr>
        <p:txBody>
          <a:bodyPr wrap="square">
            <a:spAutoFit/>
          </a:bodyPr>
          <a:lstStyle/>
          <a:p>
            <a:r>
              <a:t>• Operational Challenge:</a:t>
            </a:r>
          </a:p>
          <a:p>
            <a:r>
              <a:t>  Bike-sharing systems solve urban congestion and first/last-mile connectivity.   However, fleet managers face chronic station imbalance — stations are either overflowing   (cannot return bikes) or completely empty (cannot rent).</a:t>
            </a:r>
          </a:p>
          <a:p/>
          <a:p>
            <a:r>
              <a:t>• The Core Problem:</a:t>
            </a:r>
          </a:p>
          <a:p>
            <a:r>
              <a:t>  Demand is highly volatile, governed by complex non-linear interactions of weather,   rush-hour commute schedules, holidays, and seasonal climate shifts.</a:t>
            </a:r>
          </a:p>
          <a:p/>
          <a:p>
            <a:r>
              <a:t>• Business Impact:</a:t>
            </a:r>
          </a:p>
          <a:p>
            <a:r>
              <a:t>  Unpredicted demand leads to lost revenue, dissatisfied commuters, and high   truck dispatch costs for manual rebalancing.</a:t>
            </a:r>
          </a:p>
        </p:txBody>
      </p:sp>
      <p:sp>
        <p:nvSpPr>
          <p:cNvPr id="9" name="Rounded Rectangle 8"/>
          <p:cNvSpPr/>
          <p:nvPr/>
        </p:nvSpPr>
        <p:spPr>
          <a:xfrm>
            <a:off x="6309360" y="1280160"/>
            <a:ext cx="5120640" cy="50292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417319"/>
            <a:ext cx="4663440" cy="365760"/>
          </a:xfrm>
          <a:prstGeom prst="rect">
            <a:avLst/>
          </a:prstGeom>
          <a:noFill/>
        </p:spPr>
        <p:txBody>
          <a:bodyPr wrap="none">
            <a:spAutoFit/>
          </a:bodyPr>
          <a:lstStyle/>
          <a:p>
            <a:pPr>
              <a:defRPr sz="1400" b="1">
                <a:solidFill>
                  <a:srgbClr val="182B49"/>
                </a:solidFill>
              </a:defRPr>
            </a:pPr>
            <a:r>
              <a:t>2. Key Analytical Objectives</a:t>
            </a:r>
          </a:p>
        </p:txBody>
      </p:sp>
      <p:sp>
        <p:nvSpPr>
          <p:cNvPr id="11" name="TextBox 10"/>
          <p:cNvSpPr txBox="1"/>
          <p:nvPr/>
        </p:nvSpPr>
        <p:spPr>
          <a:xfrm>
            <a:off x="6492240" y="1828800"/>
            <a:ext cx="4754880" cy="4297680"/>
          </a:xfrm>
          <a:prstGeom prst="rect">
            <a:avLst/>
          </a:prstGeom>
          <a:noFill/>
        </p:spPr>
        <p:txBody>
          <a:bodyPr wrap="square">
            <a:spAutoFit/>
          </a:bodyPr>
          <a:lstStyle/>
          <a:p>
            <a:r>
              <a:t>1. Exploratory Data Profiling:</a:t>
            </a:r>
          </a:p>
          <a:p>
            <a:r>
              <a:t>   Investigate 15+ business questions to isolate temporal, weather, and user behavior dynamics.</a:t>
            </a:r>
          </a:p>
          <a:p/>
          <a:p>
            <a:r>
              <a:t>2. Statistical Rigor (Hypothesis Testing):</a:t>
            </a:r>
          </a:p>
          <a:p>
            <a:r>
              <a:t>   Rigorously prove operational decisions using 6 parametric &amp; non-parametric statistical tests.</a:t>
            </a:r>
          </a:p>
          <a:p/>
          <a:p>
            <a:r>
              <a:t>3. Predictive Validation (Regression ML):</a:t>
            </a:r>
          </a:p>
          <a:p>
            <a:r>
              <a:t>   Deploy ML regression models to accurately forecast next-day fleet demand and extract feature importance.</a:t>
            </a:r>
          </a:p>
          <a:p/>
          <a:p>
            <a:r>
              <a:t>4. Full-Stack BI Integration:</a:t>
            </a:r>
          </a:p>
          <a:p>
            <a:r>
              <a:t>   Feed processed data and ML predictions into an interactive Power BI / Tableau dashboard for executive decision-making.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none">
            <a:spAutoFit/>
          </a:bodyPr>
          <a:lstStyle/>
          <a:p>
            <a:pPr>
              <a:defRPr sz="1000" b="1">
                <a:solidFill>
                  <a:srgbClr val="107C8A"/>
                </a:solidFill>
              </a:defRPr>
            </a:pPr>
            <a:r>
              <a:t>SLIDE 3 OF 12</a:t>
            </a:r>
          </a:p>
        </p:txBody>
      </p:sp>
      <p:sp>
        <p:nvSpPr>
          <p:cNvPr id="5" name="TextBox 4"/>
          <p:cNvSpPr txBox="1"/>
          <p:nvPr/>
        </p:nvSpPr>
        <p:spPr>
          <a:xfrm>
            <a:off x="731520" y="365760"/>
            <a:ext cx="10698480" cy="548640"/>
          </a:xfrm>
          <a:prstGeom prst="rect">
            <a:avLst/>
          </a:prstGeom>
          <a:noFill/>
        </p:spPr>
        <p:txBody>
          <a:bodyPr wrap="none">
            <a:spAutoFit/>
          </a:bodyPr>
          <a:lstStyle/>
          <a:p>
            <a:pPr>
              <a:defRPr sz="2200" b="1">
                <a:solidFill>
                  <a:srgbClr val="FFFFFF"/>
                </a:solidFill>
              </a:defRPr>
            </a:pPr>
            <a:r>
              <a:t>Dataset Description — Source, Attributes &amp; Granularity</a:t>
            </a:r>
          </a:p>
        </p:txBody>
      </p:sp>
      <p:sp>
        <p:nvSpPr>
          <p:cNvPr id="6" name="Rounded Rectangle 5"/>
          <p:cNvSpPr/>
          <p:nvPr/>
        </p:nvSpPr>
        <p:spPr>
          <a:xfrm>
            <a:off x="731520" y="1280160"/>
            <a:ext cx="10698480" cy="118872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19"/>
            <a:ext cx="10241280" cy="365760"/>
          </a:xfrm>
          <a:prstGeom prst="rect">
            <a:avLst/>
          </a:prstGeom>
          <a:noFill/>
        </p:spPr>
        <p:txBody>
          <a:bodyPr wrap="none">
            <a:spAutoFit/>
          </a:bodyPr>
          <a:lstStyle/>
          <a:p>
            <a:pPr>
              <a:defRPr sz="1400" b="1">
                <a:solidFill>
                  <a:srgbClr val="182B49"/>
                </a:solidFill>
              </a:defRPr>
            </a:pPr>
            <a:r>
              <a:t>Dataset Metadata</a:t>
            </a:r>
          </a:p>
        </p:txBody>
      </p:sp>
      <p:sp>
        <p:nvSpPr>
          <p:cNvPr id="8" name="TextBox 7"/>
          <p:cNvSpPr txBox="1"/>
          <p:nvPr/>
        </p:nvSpPr>
        <p:spPr>
          <a:xfrm>
            <a:off x="914400" y="1691640"/>
            <a:ext cx="10332720" cy="731520"/>
          </a:xfrm>
          <a:prstGeom prst="rect">
            <a:avLst/>
          </a:prstGeom>
          <a:noFill/>
        </p:spPr>
        <p:txBody>
          <a:bodyPr wrap="square">
            <a:spAutoFit/>
          </a:bodyPr>
          <a:lstStyle/>
          <a:p>
            <a:r>
              <a:t>• Source: UCI Machine Learning Repository (Capital Bikeshare System, Washington D.C., USA)</a:t>
            </a:r>
          </a:p>
          <a:p>
            <a:r>
              <a:t>• Period Covered: January 1, 2011 to December 31, 2012 (2 Full Years / 731 Days)</a:t>
            </a:r>
          </a:p>
          <a:p>
            <a:r>
              <a:t>• Files Utilized: day.csv (731 aggregated daily records) &amp; hour.csv (17,379 hourly records) × 16 attributes</a:t>
            </a:r>
          </a:p>
        </p:txBody>
      </p:sp>
      <p:sp>
        <p:nvSpPr>
          <p:cNvPr id="9" name="Rounded Rectangle 8"/>
          <p:cNvSpPr/>
          <p:nvPr/>
        </p:nvSpPr>
        <p:spPr>
          <a:xfrm>
            <a:off x="731520" y="2651760"/>
            <a:ext cx="5120640" cy="36576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88920"/>
            <a:ext cx="4663440" cy="365760"/>
          </a:xfrm>
          <a:prstGeom prst="rect">
            <a:avLst/>
          </a:prstGeom>
          <a:noFill/>
        </p:spPr>
        <p:txBody>
          <a:bodyPr wrap="none">
            <a:spAutoFit/>
          </a:bodyPr>
          <a:lstStyle/>
          <a:p>
            <a:pPr>
              <a:defRPr sz="1400" b="1">
                <a:solidFill>
                  <a:srgbClr val="182B49"/>
                </a:solidFill>
              </a:defRPr>
            </a:pPr>
            <a:r>
              <a:t>Attribute Taxonomy (16 Features)</a:t>
            </a:r>
          </a:p>
        </p:txBody>
      </p:sp>
      <p:sp>
        <p:nvSpPr>
          <p:cNvPr id="11" name="TextBox 10"/>
          <p:cNvSpPr txBox="1"/>
          <p:nvPr/>
        </p:nvSpPr>
        <p:spPr>
          <a:xfrm>
            <a:off x="914400" y="3108960"/>
            <a:ext cx="4754880" cy="3017520"/>
          </a:xfrm>
          <a:prstGeom prst="rect">
            <a:avLst/>
          </a:prstGeom>
          <a:noFill/>
        </p:spPr>
        <p:txBody>
          <a:bodyPr wrap="square">
            <a:spAutoFit/>
          </a:bodyPr>
          <a:lstStyle/>
          <a:p>
            <a:r>
              <a:t>• Temporal Features:</a:t>
            </a:r>
          </a:p>
          <a:p>
            <a:r>
              <a:t>  dteday, season (1:Spring, 2:Summer, 3:Fall, 4:Winter),</a:t>
            </a:r>
          </a:p>
          <a:p>
            <a:r>
              <a:t>  yr (2011, 2012), mnth (1–12), hr (0–23), holiday, weekday, workingday</a:t>
            </a:r>
          </a:p>
          <a:p/>
          <a:p>
            <a:r>
              <a:t>• Environmental &amp; Weather Features:</a:t>
            </a:r>
          </a:p>
          <a:p>
            <a:r>
              <a:t>  weathersit (1:Clear to 4:Heavy Rain/Snow),</a:t>
            </a:r>
          </a:p>
          <a:p>
            <a:r>
              <a:t>  temp (normalized °C), atemp (feels-like °C),</a:t>
            </a:r>
          </a:p>
          <a:p>
            <a:r>
              <a:t>  hum (relative humidity), windspeed (wind velocity km/h)</a:t>
            </a:r>
          </a:p>
        </p:txBody>
      </p:sp>
      <p:sp>
        <p:nvSpPr>
          <p:cNvPr id="12" name="Rounded Rectangle 11"/>
          <p:cNvSpPr/>
          <p:nvPr/>
        </p:nvSpPr>
        <p:spPr>
          <a:xfrm>
            <a:off x="6309360" y="2651760"/>
            <a:ext cx="5120640" cy="36576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788920"/>
            <a:ext cx="4663440" cy="365760"/>
          </a:xfrm>
          <a:prstGeom prst="rect">
            <a:avLst/>
          </a:prstGeom>
          <a:noFill/>
        </p:spPr>
        <p:txBody>
          <a:bodyPr wrap="none">
            <a:spAutoFit/>
          </a:bodyPr>
          <a:lstStyle/>
          <a:p>
            <a:pPr>
              <a:defRPr sz="1400" b="1">
                <a:solidFill>
                  <a:srgbClr val="182B49"/>
                </a:solidFill>
              </a:defRPr>
            </a:pPr>
            <a:r>
              <a:t>Target Variables &amp; User Segmentation</a:t>
            </a:r>
          </a:p>
        </p:txBody>
      </p:sp>
      <p:sp>
        <p:nvSpPr>
          <p:cNvPr id="14" name="TextBox 13"/>
          <p:cNvSpPr txBox="1"/>
          <p:nvPr/>
        </p:nvSpPr>
        <p:spPr>
          <a:xfrm>
            <a:off x="6492240" y="3108960"/>
            <a:ext cx="4754880" cy="3017520"/>
          </a:xfrm>
          <a:prstGeom prst="rect">
            <a:avLst/>
          </a:prstGeom>
          <a:noFill/>
        </p:spPr>
        <p:txBody>
          <a:bodyPr wrap="square">
            <a:spAutoFit/>
          </a:bodyPr>
          <a:lstStyle/>
          <a:p>
            <a:r>
              <a:t>• Primary Target: cnt (Total bike rental count)</a:t>
            </a:r>
          </a:p>
          <a:p>
            <a:r>
              <a:t>  Formula: cnt = casual + registered</a:t>
            </a:r>
          </a:p>
          <a:p/>
          <a:p>
            <a:r>
              <a:t>• Segment 1: casual</a:t>
            </a:r>
          </a:p>
          <a:p>
            <a:r>
              <a:t>  Non-registered, ad-hoc leisure riders paying per trip.</a:t>
            </a:r>
          </a:p>
          <a:p/>
          <a:p>
            <a:r>
              <a:t>• Segment 2: registered</a:t>
            </a:r>
          </a:p>
          <a:p>
            <a:r>
              <a:t>  Annual membership subscribers using bikes for daily commuting.</a:t>
            </a:r>
          </a:p>
          <a:p/>
          <a:p>
            <a:r>
              <a:t>• Key Takeaway: The two groups exhibit completely opposite behavioral patterns across days and hours.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none">
            <a:spAutoFit/>
          </a:bodyPr>
          <a:lstStyle/>
          <a:p>
            <a:pPr>
              <a:defRPr sz="1000" b="1">
                <a:solidFill>
                  <a:srgbClr val="107C8A"/>
                </a:solidFill>
              </a:defRPr>
            </a:pPr>
            <a:r>
              <a:t>SLIDE 4 OF 12</a:t>
            </a:r>
          </a:p>
        </p:txBody>
      </p:sp>
      <p:sp>
        <p:nvSpPr>
          <p:cNvPr id="5" name="TextBox 4"/>
          <p:cNvSpPr txBox="1"/>
          <p:nvPr/>
        </p:nvSpPr>
        <p:spPr>
          <a:xfrm>
            <a:off x="731520" y="365760"/>
            <a:ext cx="10698480" cy="548640"/>
          </a:xfrm>
          <a:prstGeom prst="rect">
            <a:avLst/>
          </a:prstGeom>
          <a:noFill/>
        </p:spPr>
        <p:txBody>
          <a:bodyPr wrap="none">
            <a:spAutoFit/>
          </a:bodyPr>
          <a:lstStyle/>
          <a:p>
            <a:pPr>
              <a:defRPr sz="2200" b="1">
                <a:solidFill>
                  <a:srgbClr val="FFFFFF"/>
                </a:solidFill>
              </a:defRPr>
            </a:pPr>
            <a:r>
              <a:t>Data Preprocessing — Cleaning, Transformation &amp; Feature Engineering</a:t>
            </a:r>
          </a:p>
        </p:txBody>
      </p:sp>
      <p:sp>
        <p:nvSpPr>
          <p:cNvPr id="6" name="Rounded Rectangle 5"/>
          <p:cNvSpPr/>
          <p:nvPr/>
        </p:nvSpPr>
        <p:spPr>
          <a:xfrm>
            <a:off x="731520" y="1280160"/>
            <a:ext cx="3291840" cy="50292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19"/>
            <a:ext cx="2834640" cy="365760"/>
          </a:xfrm>
          <a:prstGeom prst="rect">
            <a:avLst/>
          </a:prstGeom>
          <a:noFill/>
        </p:spPr>
        <p:txBody>
          <a:bodyPr wrap="none">
            <a:spAutoFit/>
          </a:bodyPr>
          <a:lstStyle/>
          <a:p>
            <a:pPr>
              <a:defRPr sz="1400" b="1">
                <a:solidFill>
                  <a:srgbClr val="182B49"/>
                </a:solidFill>
              </a:defRPr>
            </a:pPr>
            <a:r>
              <a:t>1. Data Integrity &amp; Cleaning</a:t>
            </a:r>
          </a:p>
        </p:txBody>
      </p:sp>
      <p:sp>
        <p:nvSpPr>
          <p:cNvPr id="8" name="TextBox 7"/>
          <p:cNvSpPr txBox="1"/>
          <p:nvPr/>
        </p:nvSpPr>
        <p:spPr>
          <a:xfrm>
            <a:off x="914400" y="1828800"/>
            <a:ext cx="2926080" cy="4297680"/>
          </a:xfrm>
          <a:prstGeom prst="rect">
            <a:avLst/>
          </a:prstGeom>
          <a:noFill/>
        </p:spPr>
        <p:txBody>
          <a:bodyPr wrap="square">
            <a:spAutoFit/>
          </a:bodyPr>
          <a:lstStyle/>
          <a:p>
            <a:r>
              <a:t>• Missing Value Check:</a:t>
            </a:r>
          </a:p>
          <a:p>
            <a:r>
              <a:t>  0 null or missing values across all 17,379 hourly and 731 daily records.</a:t>
            </a:r>
          </a:p>
          <a:p/>
          <a:p>
            <a:r>
              <a:t>• Duplicate Check:</a:t>
            </a:r>
          </a:p>
          <a:p>
            <a:r>
              <a:t>  0 duplicate timestamps or entries.</a:t>
            </a:r>
          </a:p>
          <a:p/>
          <a:p>
            <a:r>
              <a:t>• Date Parsing:</a:t>
            </a:r>
          </a:p>
          <a:p>
            <a:r>
              <a:t>  Converted string dteday into native Pandas datetime format.</a:t>
            </a:r>
          </a:p>
        </p:txBody>
      </p:sp>
      <p:sp>
        <p:nvSpPr>
          <p:cNvPr id="9" name="Rounded Rectangle 8"/>
          <p:cNvSpPr/>
          <p:nvPr/>
        </p:nvSpPr>
        <p:spPr>
          <a:xfrm>
            <a:off x="4389120" y="1280160"/>
            <a:ext cx="3383280" cy="50292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417319"/>
            <a:ext cx="2926080" cy="365760"/>
          </a:xfrm>
          <a:prstGeom prst="rect">
            <a:avLst/>
          </a:prstGeom>
          <a:noFill/>
        </p:spPr>
        <p:txBody>
          <a:bodyPr wrap="none">
            <a:spAutoFit/>
          </a:bodyPr>
          <a:lstStyle/>
          <a:p>
            <a:pPr>
              <a:defRPr sz="1400" b="1">
                <a:solidFill>
                  <a:srgbClr val="182B49"/>
                </a:solidFill>
              </a:defRPr>
            </a:pPr>
            <a:r>
              <a:t>2. Physical Denormalization</a:t>
            </a:r>
          </a:p>
        </p:txBody>
      </p:sp>
      <p:sp>
        <p:nvSpPr>
          <p:cNvPr id="11" name="TextBox 10"/>
          <p:cNvSpPr txBox="1"/>
          <p:nvPr/>
        </p:nvSpPr>
        <p:spPr>
          <a:xfrm>
            <a:off x="4572000" y="1828800"/>
            <a:ext cx="3017520" cy="4297680"/>
          </a:xfrm>
          <a:prstGeom prst="rect">
            <a:avLst/>
          </a:prstGeom>
          <a:noFill/>
        </p:spPr>
        <p:txBody>
          <a:bodyPr wrap="square">
            <a:spAutoFit/>
          </a:bodyPr>
          <a:lstStyle/>
          <a:p>
            <a:r>
              <a:t>• Temperature Recovery:</a:t>
            </a:r>
          </a:p>
          <a:p>
            <a:r>
              <a:t>  temp_actual = temp × 41 (°C)</a:t>
            </a:r>
          </a:p>
          <a:p>
            <a:r>
              <a:t>  Range: 0.8°C to 39.0°C</a:t>
            </a:r>
          </a:p>
          <a:p/>
          <a:p>
            <a:r>
              <a:t>• Feels-like Temperature:</a:t>
            </a:r>
          </a:p>
          <a:p>
            <a:r>
              <a:t>  atemp_actual = atemp × 50 (°C)</a:t>
            </a:r>
          </a:p>
          <a:p/>
          <a:p>
            <a:r>
              <a:t>• Humidity Denormalization:</a:t>
            </a:r>
          </a:p>
          <a:p>
            <a:r>
              <a:t>  hum_actual = hum × 100 (%)</a:t>
            </a:r>
          </a:p>
          <a:p/>
          <a:p>
            <a:r>
              <a:t>• Wind Speed:</a:t>
            </a:r>
          </a:p>
          <a:p>
            <a:r>
              <a:t>  wind_actual = windspeed × 67 (km/h)</a:t>
            </a:r>
          </a:p>
        </p:txBody>
      </p:sp>
      <p:sp>
        <p:nvSpPr>
          <p:cNvPr id="12" name="Rounded Rectangle 11"/>
          <p:cNvSpPr/>
          <p:nvPr/>
        </p:nvSpPr>
        <p:spPr>
          <a:xfrm>
            <a:off x="8138160" y="1280160"/>
            <a:ext cx="3291840" cy="50292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417319"/>
            <a:ext cx="2834640" cy="365760"/>
          </a:xfrm>
          <a:prstGeom prst="rect">
            <a:avLst/>
          </a:prstGeom>
          <a:noFill/>
        </p:spPr>
        <p:txBody>
          <a:bodyPr wrap="none">
            <a:spAutoFit/>
          </a:bodyPr>
          <a:lstStyle/>
          <a:p>
            <a:pPr>
              <a:defRPr sz="1400" b="1">
                <a:solidFill>
                  <a:srgbClr val="182B49"/>
                </a:solidFill>
              </a:defRPr>
            </a:pPr>
            <a:r>
              <a:t>3. Feature Engineering &amp; Bins</a:t>
            </a:r>
          </a:p>
        </p:txBody>
      </p:sp>
      <p:sp>
        <p:nvSpPr>
          <p:cNvPr id="14" name="TextBox 13"/>
          <p:cNvSpPr txBox="1"/>
          <p:nvPr/>
        </p:nvSpPr>
        <p:spPr>
          <a:xfrm>
            <a:off x="8321040" y="1828800"/>
            <a:ext cx="2926080" cy="4297680"/>
          </a:xfrm>
          <a:prstGeom prst="rect">
            <a:avLst/>
          </a:prstGeom>
          <a:noFill/>
        </p:spPr>
        <p:txBody>
          <a:bodyPr wrap="square">
            <a:spAutoFit/>
          </a:bodyPr>
          <a:lstStyle/>
          <a:p>
            <a:r>
              <a:t>• Semantic Categorical Labels:</a:t>
            </a:r>
          </a:p>
          <a:p>
            <a:r>
              <a:t>  Mapped integer codes into readable strings: season_label, weather_label, weekday_label.</a:t>
            </a:r>
          </a:p>
          <a:p/>
          <a:p>
            <a:r>
              <a:t>• Temporal Binning:</a:t>
            </a:r>
          </a:p>
          <a:p>
            <a:r>
              <a:t>  Discretized hr into 4 operational time periods: Morning Rush, Afternoon, Evening Rush, Night.</a:t>
            </a:r>
          </a:p>
          <a:p/>
          <a:p>
            <a:r>
              <a:t>• Outlier Verification:</a:t>
            </a:r>
          </a:p>
          <a:p>
            <a:r>
              <a:t>  Confirmed target distribution reflects genuine demand peaks, not sensor noise.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none">
            <a:spAutoFit/>
          </a:bodyPr>
          <a:lstStyle/>
          <a:p>
            <a:pPr>
              <a:defRPr sz="1000" b="1">
                <a:solidFill>
                  <a:srgbClr val="107C8A"/>
                </a:solidFill>
              </a:defRPr>
            </a:pPr>
            <a:r>
              <a:t>SLIDE 5 OF 12</a:t>
            </a:r>
          </a:p>
        </p:txBody>
      </p:sp>
      <p:sp>
        <p:nvSpPr>
          <p:cNvPr id="5" name="TextBox 4"/>
          <p:cNvSpPr txBox="1"/>
          <p:nvPr/>
        </p:nvSpPr>
        <p:spPr>
          <a:xfrm>
            <a:off x="731520" y="365760"/>
            <a:ext cx="10698480" cy="548640"/>
          </a:xfrm>
          <a:prstGeom prst="rect">
            <a:avLst/>
          </a:prstGeom>
          <a:noFill/>
        </p:spPr>
        <p:txBody>
          <a:bodyPr wrap="none">
            <a:spAutoFit/>
          </a:bodyPr>
          <a:lstStyle/>
          <a:p>
            <a:pPr>
              <a:defRPr sz="2200" b="1">
                <a:solidFill>
                  <a:srgbClr val="FFFFFF"/>
                </a:solidFill>
              </a:defRPr>
            </a:pPr>
            <a:r>
              <a:t>Exploratory Data Analysis — Key Visual Patterns &amp; Findings</a:t>
            </a:r>
          </a:p>
        </p:txBody>
      </p:sp>
      <p:sp>
        <p:nvSpPr>
          <p:cNvPr id="6" name="Rounded Rectangle 5"/>
          <p:cNvSpPr/>
          <p:nvPr/>
        </p:nvSpPr>
        <p:spPr>
          <a:xfrm>
            <a:off x="731520" y="1280160"/>
            <a:ext cx="5120640" cy="237744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19"/>
            <a:ext cx="4663440" cy="365760"/>
          </a:xfrm>
          <a:prstGeom prst="rect">
            <a:avLst/>
          </a:prstGeom>
          <a:noFill/>
        </p:spPr>
        <p:txBody>
          <a:bodyPr wrap="none">
            <a:spAutoFit/>
          </a:bodyPr>
          <a:lstStyle/>
          <a:p>
            <a:pPr>
              <a:defRPr sz="1400" b="1">
                <a:solidFill>
                  <a:srgbClr val="182B49"/>
                </a:solidFill>
              </a:defRPr>
            </a:pPr>
            <a:r>
              <a:t>1. Commuter Dynamics (Rush-Hour Bimodal Peak)</a:t>
            </a:r>
          </a:p>
        </p:txBody>
      </p:sp>
      <p:sp>
        <p:nvSpPr>
          <p:cNvPr id="8" name="TextBox 7"/>
          <p:cNvSpPr txBox="1"/>
          <p:nvPr/>
        </p:nvSpPr>
        <p:spPr>
          <a:xfrm>
            <a:off x="914400" y="1737360"/>
            <a:ext cx="4754880" cy="1828800"/>
          </a:xfrm>
          <a:prstGeom prst="rect">
            <a:avLst/>
          </a:prstGeom>
          <a:noFill/>
        </p:spPr>
        <p:txBody>
          <a:bodyPr wrap="square">
            <a:spAutoFit/>
          </a:bodyPr>
          <a:lstStyle/>
          <a:p>
            <a:r>
              <a:t>• Working Days:</a:t>
            </a:r>
          </a:p>
          <a:p>
            <a:r>
              <a:t>  Registered users create sharp bimodal demand spikes at 8:00–9:00 AM and 5:00–6:00 PM (commuting to/from office).</a:t>
            </a:r>
          </a:p>
          <a:p>
            <a:r>
              <a:t>• Non-Working Days:</a:t>
            </a:r>
          </a:p>
          <a:p>
            <a:r>
              <a:t>  Casual users create a smooth unimodal peak from 12:00 PM to 4:00 PM.</a:t>
            </a:r>
          </a:p>
        </p:txBody>
      </p:sp>
      <p:sp>
        <p:nvSpPr>
          <p:cNvPr id="9" name="Rounded Rectangle 8"/>
          <p:cNvSpPr/>
          <p:nvPr/>
        </p:nvSpPr>
        <p:spPr>
          <a:xfrm>
            <a:off x="6309360" y="1280160"/>
            <a:ext cx="5120640" cy="237744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417319"/>
            <a:ext cx="4663440" cy="365760"/>
          </a:xfrm>
          <a:prstGeom prst="rect">
            <a:avLst/>
          </a:prstGeom>
          <a:noFill/>
        </p:spPr>
        <p:txBody>
          <a:bodyPr wrap="none">
            <a:spAutoFit/>
          </a:bodyPr>
          <a:lstStyle/>
          <a:p>
            <a:pPr>
              <a:defRPr sz="1400" b="1">
                <a:solidFill>
                  <a:srgbClr val="182B49"/>
                </a:solidFill>
              </a:defRPr>
            </a:pPr>
            <a:r>
              <a:t>2. Annual &amp; Seasonal Trajectory</a:t>
            </a:r>
          </a:p>
        </p:txBody>
      </p:sp>
      <p:sp>
        <p:nvSpPr>
          <p:cNvPr id="11" name="TextBox 10"/>
          <p:cNvSpPr txBox="1"/>
          <p:nvPr/>
        </p:nvSpPr>
        <p:spPr>
          <a:xfrm>
            <a:off x="6492240" y="1737360"/>
            <a:ext cx="4754880" cy="1828800"/>
          </a:xfrm>
          <a:prstGeom prst="rect">
            <a:avLst/>
          </a:prstGeom>
          <a:noFill/>
        </p:spPr>
        <p:txBody>
          <a:bodyPr wrap="square">
            <a:spAutoFit/>
          </a:bodyPr>
          <a:lstStyle/>
          <a:p>
            <a:r>
              <a:t>• Dramatic Year-over-Year Surge:</a:t>
            </a:r>
          </a:p>
          <a:p>
            <a:r>
              <a:t>  Average daily demand jumped from 3,405 in 2011 to 5,599 in 2012 (+64.5% growth).</a:t>
            </a:r>
          </a:p>
          <a:p>
            <a:r>
              <a:t>• Seasonal Dominance:</a:t>
            </a:r>
          </a:p>
          <a:p>
            <a:r>
              <a:t>  Fall &amp; Summer lead ridership (~5,644/day); Winter and early Spring experience seasonal slumps.</a:t>
            </a:r>
          </a:p>
        </p:txBody>
      </p:sp>
      <p:sp>
        <p:nvSpPr>
          <p:cNvPr id="12" name="Rounded Rectangle 11"/>
          <p:cNvSpPr/>
          <p:nvPr/>
        </p:nvSpPr>
        <p:spPr>
          <a:xfrm>
            <a:off x="731520" y="3840480"/>
            <a:ext cx="5120640" cy="2468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977640"/>
            <a:ext cx="4663440" cy="365760"/>
          </a:xfrm>
          <a:prstGeom prst="rect">
            <a:avLst/>
          </a:prstGeom>
          <a:noFill/>
        </p:spPr>
        <p:txBody>
          <a:bodyPr wrap="none">
            <a:spAutoFit/>
          </a:bodyPr>
          <a:lstStyle/>
          <a:p>
            <a:pPr>
              <a:defRPr sz="1400" b="1">
                <a:solidFill>
                  <a:srgbClr val="182B49"/>
                </a:solidFill>
              </a:defRPr>
            </a:pPr>
            <a:r>
              <a:t>3. Weather Sensitivity &amp; Severity Impact</a:t>
            </a:r>
          </a:p>
        </p:txBody>
      </p:sp>
      <p:sp>
        <p:nvSpPr>
          <p:cNvPr id="14" name="TextBox 13"/>
          <p:cNvSpPr txBox="1"/>
          <p:nvPr/>
        </p:nvSpPr>
        <p:spPr>
          <a:xfrm>
            <a:off x="914400" y="4297680"/>
            <a:ext cx="4754880" cy="1920240"/>
          </a:xfrm>
          <a:prstGeom prst="rect">
            <a:avLst/>
          </a:prstGeom>
          <a:noFill/>
        </p:spPr>
        <p:txBody>
          <a:bodyPr wrap="square">
            <a:spAutoFit/>
          </a:bodyPr>
          <a:lstStyle/>
          <a:p>
            <a:r>
              <a:t>• Weather Category Breakdown:</a:t>
            </a:r>
          </a:p>
          <a:p>
            <a:r>
              <a:t>  Clear/Cloudy: ~4,876 rentals/day</a:t>
            </a:r>
          </a:p>
          <a:p>
            <a:r>
              <a:t>  Mist/Rain: ~4,035 rentals/day</a:t>
            </a:r>
          </a:p>
          <a:p>
            <a:r>
              <a:t>  Heavy Rain/Snow: ~1,803 rentals/day (&gt;60% drop-off).</a:t>
            </a:r>
          </a:p>
          <a:p>
            <a:r>
              <a:t>• Wind Speed Effect: High winds (&gt;25 km/h) cause notable ridership decline.</a:t>
            </a:r>
          </a:p>
        </p:txBody>
      </p:sp>
      <p:sp>
        <p:nvSpPr>
          <p:cNvPr id="15" name="Rounded Rectangle 14"/>
          <p:cNvSpPr/>
          <p:nvPr/>
        </p:nvSpPr>
        <p:spPr>
          <a:xfrm>
            <a:off x="6309360" y="3840480"/>
            <a:ext cx="5120640" cy="2468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3977640"/>
            <a:ext cx="4663440" cy="365760"/>
          </a:xfrm>
          <a:prstGeom prst="rect">
            <a:avLst/>
          </a:prstGeom>
          <a:noFill/>
        </p:spPr>
        <p:txBody>
          <a:bodyPr wrap="none">
            <a:spAutoFit/>
          </a:bodyPr>
          <a:lstStyle/>
          <a:p>
            <a:pPr>
              <a:defRPr sz="1400" b="1">
                <a:solidFill>
                  <a:srgbClr val="182B49"/>
                </a:solidFill>
              </a:defRPr>
            </a:pPr>
            <a:r>
              <a:t>4. Temperature Sweet Spot (Non-Linearity)</a:t>
            </a:r>
          </a:p>
        </p:txBody>
      </p:sp>
      <p:sp>
        <p:nvSpPr>
          <p:cNvPr id="17" name="TextBox 16"/>
          <p:cNvSpPr txBox="1"/>
          <p:nvPr/>
        </p:nvSpPr>
        <p:spPr>
          <a:xfrm>
            <a:off x="6492240" y="4297680"/>
            <a:ext cx="4754880" cy="1920240"/>
          </a:xfrm>
          <a:prstGeom prst="rect">
            <a:avLst/>
          </a:prstGeom>
          <a:noFill/>
        </p:spPr>
        <p:txBody>
          <a:bodyPr wrap="square">
            <a:spAutoFit/>
          </a:bodyPr>
          <a:lstStyle/>
          <a:p>
            <a:r>
              <a:t>• Strong Positive Correlation (r = 0.627):</a:t>
            </a:r>
          </a:p>
          <a:p>
            <a:r>
              <a:t>  Demand expands continuously between 10°C and 25°C.</a:t>
            </a:r>
          </a:p>
          <a:p>
            <a:r>
              <a:t>• Optimal Thermal Zone:</a:t>
            </a:r>
          </a:p>
          <a:p>
            <a:r>
              <a:t>  Ridership peaks between 20°C and 28°C, flattening and slightly dropping beyond 32°C due to excessive heat.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none">
            <a:spAutoFit/>
          </a:bodyPr>
          <a:lstStyle/>
          <a:p>
            <a:pPr>
              <a:defRPr sz="1000" b="1">
                <a:solidFill>
                  <a:srgbClr val="107C8A"/>
                </a:solidFill>
              </a:defRPr>
            </a:pPr>
            <a:r>
              <a:t>SLIDE 6 OF 12 (8 MARKS)</a:t>
            </a:r>
          </a:p>
        </p:txBody>
      </p:sp>
      <p:sp>
        <p:nvSpPr>
          <p:cNvPr id="5" name="TextBox 4"/>
          <p:cNvSpPr txBox="1"/>
          <p:nvPr/>
        </p:nvSpPr>
        <p:spPr>
          <a:xfrm>
            <a:off x="731520" y="365760"/>
            <a:ext cx="10698480" cy="548640"/>
          </a:xfrm>
          <a:prstGeom prst="rect">
            <a:avLst/>
          </a:prstGeom>
          <a:noFill/>
        </p:spPr>
        <p:txBody>
          <a:bodyPr wrap="none">
            <a:spAutoFit/>
          </a:bodyPr>
          <a:lstStyle/>
          <a:p>
            <a:pPr>
              <a:defRPr sz="2200" b="1">
                <a:solidFill>
                  <a:srgbClr val="FFFFFF"/>
                </a:solidFill>
              </a:defRPr>
            </a:pPr>
            <a:r>
              <a:t>Statistical Proof — 6 Rigorous Hypothesis Tests</a:t>
            </a:r>
          </a:p>
        </p:txBody>
      </p:sp>
      <p:graphicFrame>
        <p:nvGraphicFramePr>
          <p:cNvPr id="6" name="Table 5"/>
          <p:cNvGraphicFramePr>
            <a:graphicFrameLocks noGrp="1"/>
          </p:cNvGraphicFramePr>
          <p:nvPr/>
        </p:nvGraphicFramePr>
        <p:xfrm>
          <a:off x="731520" y="1280160"/>
          <a:ext cx="10698480" cy="5029200"/>
        </p:xfrm>
        <a:graphic>
          <a:graphicData uri="http://schemas.openxmlformats.org/drawingml/2006/table">
            <a:tbl>
              <a:tblPr firstRow="1" bandRow="1">
                <a:tableStyleId>{5C22544A-7EE6-4342-B048-85BDC9FD1C3A}</a:tableStyleId>
              </a:tblPr>
              <a:tblGrid>
                <a:gridCol w="822960"/>
                <a:gridCol w="2926080"/>
                <a:gridCol w="2194560"/>
                <a:gridCol w="2560320"/>
                <a:gridCol w="2194560"/>
              </a:tblGrid>
              <a:tr h="718457">
                <a:tc>
                  <a:txBody>
                    <a:bodyPr/>
                    <a:lstStyle/>
                    <a:p>
                      <a:pPr>
                        <a:defRPr sz="1100" b="1">
                          <a:solidFill>
                            <a:srgbClr val="FFFFFF"/>
                          </a:solidFill>
                        </a:defRPr>
                      </a:pPr>
                      <a:r>
                        <a:t>Test #</a:t>
                      </a:r>
                    </a:p>
                  </a:txBody>
                  <a:tcPr>
                    <a:solidFill>
                      <a:srgbClr val="182B49"/>
                    </a:solidFill>
                  </a:tcPr>
                </a:tc>
                <a:tc>
                  <a:txBody>
                    <a:bodyPr/>
                    <a:lstStyle/>
                    <a:p>
                      <a:pPr>
                        <a:defRPr sz="1100" b="1">
                          <a:solidFill>
                            <a:srgbClr val="FFFFFF"/>
                          </a:solidFill>
                        </a:defRPr>
                      </a:pPr>
                      <a:r>
                        <a:t>Hypothesis &amp; Objective</a:t>
                      </a:r>
                    </a:p>
                  </a:txBody>
                  <a:tcPr>
                    <a:solidFill>
                      <a:srgbClr val="182B49"/>
                    </a:solidFill>
                  </a:tcPr>
                </a:tc>
                <a:tc>
                  <a:txBody>
                    <a:bodyPr/>
                    <a:lstStyle/>
                    <a:p>
                      <a:pPr>
                        <a:defRPr sz="1100" b="1">
                          <a:solidFill>
                            <a:srgbClr val="FFFFFF"/>
                          </a:solidFill>
                        </a:defRPr>
                      </a:pPr>
                      <a:r>
                        <a:t>Statistical Method</a:t>
                      </a:r>
                    </a:p>
                  </a:txBody>
                  <a:tcPr>
                    <a:solidFill>
                      <a:srgbClr val="182B49"/>
                    </a:solidFill>
                  </a:tcPr>
                </a:tc>
                <a:tc>
                  <a:txBody>
                    <a:bodyPr/>
                    <a:lstStyle/>
                    <a:p>
                      <a:pPr>
                        <a:defRPr sz="1100" b="1">
                          <a:solidFill>
                            <a:srgbClr val="FFFFFF"/>
                          </a:solidFill>
                        </a:defRPr>
                      </a:pPr>
                      <a:r>
                        <a:t>Test Statistic &amp; P-Value</a:t>
                      </a:r>
                    </a:p>
                  </a:txBody>
                  <a:tcPr>
                    <a:solidFill>
                      <a:srgbClr val="182B49"/>
                    </a:solidFill>
                  </a:tcPr>
                </a:tc>
                <a:tc>
                  <a:txBody>
                    <a:bodyPr/>
                    <a:lstStyle/>
                    <a:p>
                      <a:pPr>
                        <a:defRPr sz="1100" b="1">
                          <a:solidFill>
                            <a:srgbClr val="FFFFFF"/>
                          </a:solidFill>
                        </a:defRPr>
                      </a:pPr>
                      <a:r>
                        <a:t>Decision &amp; Finding</a:t>
                      </a:r>
                    </a:p>
                  </a:txBody>
                  <a:tcPr>
                    <a:solidFill>
                      <a:srgbClr val="182B49"/>
                    </a:solidFill>
                  </a:tcPr>
                </a:tc>
              </a:tr>
              <a:tr h="718457">
                <a:tc>
                  <a:txBody>
                    <a:bodyPr/>
                    <a:lstStyle/>
                    <a:p>
                      <a:pPr>
                        <a:defRPr sz="1000"/>
                      </a:pPr>
                      <a:r>
                        <a:t>Test 1</a:t>
                      </a:r>
                    </a:p>
                  </a:txBody>
                  <a:tcPr>
                    <a:solidFill>
                      <a:srgbClr val="FFFFFF"/>
                    </a:solidFill>
                  </a:tcPr>
                </a:tc>
                <a:tc>
                  <a:txBody>
                    <a:bodyPr/>
                    <a:lstStyle/>
                    <a:p>
                      <a:pPr>
                        <a:defRPr sz="1000"/>
                      </a:pPr>
                      <a:r>
                        <a:t>H₀: Mean rentals in 2011 = 2012</a:t>
                      </a:r>
                    </a:p>
                    <a:p>
                      <a:pPr>
                        <a:defRPr sz="1000"/>
                      </a:pPr>
                      <a:r>
                        <a:t>(Assess network growth)</a:t>
                      </a:r>
                    </a:p>
                  </a:txBody>
                  <a:tcPr>
                    <a:solidFill>
                      <a:srgbClr val="FFFFFF"/>
                    </a:solidFill>
                  </a:tcPr>
                </a:tc>
                <a:tc>
                  <a:txBody>
                    <a:bodyPr/>
                    <a:lstStyle/>
                    <a:p>
                      <a:pPr>
                        <a:defRPr sz="1000"/>
                      </a:pPr>
                      <a:r>
                        <a:t>Welch's Two-Sample t-test</a:t>
                      </a:r>
                    </a:p>
                  </a:txBody>
                  <a:tcPr>
                    <a:solidFill>
                      <a:srgbClr val="FFFFFF"/>
                    </a:solidFill>
                  </a:tcPr>
                </a:tc>
                <a:tc>
                  <a:txBody>
                    <a:bodyPr/>
                    <a:lstStyle/>
                    <a:p>
                      <a:pPr>
                        <a:defRPr sz="1000"/>
                      </a:pPr>
                      <a:r>
                        <a:t>t = -15.41</a:t>
                      </a:r>
                    </a:p>
                    <a:p>
                      <a:pPr>
                        <a:defRPr sz="1000"/>
                      </a:pPr>
                      <a:r>
                        <a:t>p = 1.05 × 10⁻⁴⁵</a:t>
                      </a:r>
                    </a:p>
                  </a:txBody>
                  <a:tcPr>
                    <a:solidFill>
                      <a:srgbClr val="FFFFFF"/>
                    </a:solidFill>
                  </a:tcPr>
                </a:tc>
                <a:tc>
                  <a:txBody>
                    <a:bodyPr/>
                    <a:lstStyle/>
                    <a:p>
                      <a:pPr>
                        <a:defRPr sz="1000" b="1">
                          <a:solidFill>
                            <a:srgbClr val="107C8A"/>
                          </a:solidFill>
                        </a:defRPr>
                      </a:pPr>
                      <a:r>
                        <a:t>Reject H₀</a:t>
                      </a:r>
                    </a:p>
                    <a:p>
                      <a:pPr>
                        <a:defRPr sz="1000" b="1">
                          <a:solidFill>
                            <a:srgbClr val="107C8A"/>
                          </a:solidFill>
                        </a:defRPr>
                      </a:pPr>
                      <a:r>
                        <a:t>+64.5% Growth Proven</a:t>
                      </a:r>
                    </a:p>
                  </a:txBody>
                  <a:tcPr>
                    <a:solidFill>
                      <a:srgbClr val="FFFFFF"/>
                    </a:solidFill>
                  </a:tcPr>
                </a:tc>
              </a:tr>
              <a:tr h="718457">
                <a:tc>
                  <a:txBody>
                    <a:bodyPr/>
                    <a:lstStyle/>
                    <a:p>
                      <a:pPr>
                        <a:defRPr sz="1000"/>
                      </a:pPr>
                      <a:r>
                        <a:t>Test 2</a:t>
                      </a:r>
                    </a:p>
                  </a:txBody>
                  <a:tcPr>
                    <a:solidFill>
                      <a:srgbClr val="F0F4F8"/>
                    </a:solidFill>
                  </a:tcPr>
                </a:tc>
                <a:tc>
                  <a:txBody>
                    <a:bodyPr/>
                    <a:lstStyle/>
                    <a:p>
                      <a:pPr>
                        <a:defRPr sz="1000"/>
                      </a:pPr>
                      <a:r>
                        <a:t>H₀: Mean rentals equal across weather</a:t>
                      </a:r>
                    </a:p>
                    <a:p>
                      <a:pPr>
                        <a:defRPr sz="1000"/>
                      </a:pPr>
                      <a:r>
                        <a:t>(Assess weather impact)</a:t>
                      </a:r>
                    </a:p>
                  </a:txBody>
                  <a:tcPr>
                    <a:solidFill>
                      <a:srgbClr val="F0F4F8"/>
                    </a:solidFill>
                  </a:tcPr>
                </a:tc>
                <a:tc>
                  <a:txBody>
                    <a:bodyPr/>
                    <a:lstStyle/>
                    <a:p>
                      <a:pPr>
                        <a:defRPr sz="1000"/>
                      </a:pPr>
                      <a:r>
                        <a:t>One-Way ANOVA</a:t>
                      </a:r>
                    </a:p>
                  </a:txBody>
                  <a:tcPr>
                    <a:solidFill>
                      <a:srgbClr val="F0F4F8"/>
                    </a:solidFill>
                  </a:tcPr>
                </a:tc>
                <a:tc>
                  <a:txBody>
                    <a:bodyPr/>
                    <a:lstStyle/>
                    <a:p>
                      <a:pPr>
                        <a:defRPr sz="1000"/>
                      </a:pPr>
                      <a:r>
                        <a:t>F = 65.23</a:t>
                      </a:r>
                    </a:p>
                    <a:p>
                      <a:pPr>
                        <a:defRPr sz="1000"/>
                      </a:pPr>
                      <a:r>
                        <a:t>p = 4.48 × 10⁻²⁶</a:t>
                      </a:r>
                    </a:p>
                  </a:txBody>
                  <a:tcPr>
                    <a:solidFill>
                      <a:srgbClr val="F0F4F8"/>
                    </a:solidFill>
                  </a:tcPr>
                </a:tc>
                <a:tc>
                  <a:txBody>
                    <a:bodyPr/>
                    <a:lstStyle/>
                    <a:p>
                      <a:pPr>
                        <a:defRPr sz="1000" b="1">
                          <a:solidFill>
                            <a:srgbClr val="107C8A"/>
                          </a:solidFill>
                        </a:defRPr>
                      </a:pPr>
                      <a:r>
                        <a:t>Reject H₀</a:t>
                      </a:r>
                    </a:p>
                    <a:p>
                      <a:pPr>
                        <a:defRPr sz="1000" b="1">
                          <a:solidFill>
                            <a:srgbClr val="107C8A"/>
                          </a:solidFill>
                        </a:defRPr>
                      </a:pPr>
                      <a:r>
                        <a:t>Weather severely dampens</a:t>
                      </a:r>
                    </a:p>
                  </a:txBody>
                  <a:tcPr>
                    <a:solidFill>
                      <a:srgbClr val="F0F4F8"/>
                    </a:solidFill>
                  </a:tcPr>
                </a:tc>
              </a:tr>
              <a:tr h="718457">
                <a:tc>
                  <a:txBody>
                    <a:bodyPr/>
                    <a:lstStyle/>
                    <a:p>
                      <a:pPr>
                        <a:defRPr sz="1000"/>
                      </a:pPr>
                      <a:r>
                        <a:t>Test 3</a:t>
                      </a:r>
                    </a:p>
                  </a:txBody>
                  <a:tcPr>
                    <a:solidFill>
                      <a:srgbClr val="FFFFFF"/>
                    </a:solidFill>
                  </a:tcPr>
                </a:tc>
                <a:tc>
                  <a:txBody>
                    <a:bodyPr/>
                    <a:lstStyle/>
                    <a:p>
                      <a:pPr>
                        <a:defRPr sz="1000"/>
                      </a:pPr>
                      <a:r>
                        <a:t>H₀: Holiday rentals = Working day</a:t>
                      </a:r>
                    </a:p>
                    <a:p>
                      <a:pPr>
                        <a:defRPr sz="1000"/>
                      </a:pPr>
                      <a:r>
                        <a:t>(Assess holiday effect)</a:t>
                      </a:r>
                    </a:p>
                  </a:txBody>
                  <a:tcPr>
                    <a:solidFill>
                      <a:srgbClr val="FFFFFF"/>
                    </a:solidFill>
                  </a:tcPr>
                </a:tc>
                <a:tc>
                  <a:txBody>
                    <a:bodyPr/>
                    <a:lstStyle/>
                    <a:p>
                      <a:pPr>
                        <a:defRPr sz="1000"/>
                      </a:pPr>
                      <a:r>
                        <a:t>Two-Sample t-test</a:t>
                      </a:r>
                    </a:p>
                  </a:txBody>
                  <a:tcPr>
                    <a:solidFill>
                      <a:srgbClr val="FFFFFF"/>
                    </a:solidFill>
                  </a:tcPr>
                </a:tc>
                <a:tc>
                  <a:txBody>
                    <a:bodyPr/>
                    <a:lstStyle/>
                    <a:p>
                      <a:pPr>
                        <a:defRPr sz="1000"/>
                      </a:pPr>
                      <a:r>
                        <a:t>t = 1.99</a:t>
                      </a:r>
                    </a:p>
                    <a:p>
                      <a:pPr>
                        <a:defRPr sz="1000"/>
                      </a:pPr>
                      <a:r>
                        <a:t>p = 0.0465</a:t>
                      </a:r>
                    </a:p>
                  </a:txBody>
                  <a:tcPr>
                    <a:solidFill>
                      <a:srgbClr val="FFFFFF"/>
                    </a:solidFill>
                  </a:tcPr>
                </a:tc>
                <a:tc>
                  <a:txBody>
                    <a:bodyPr/>
                    <a:lstStyle/>
                    <a:p>
                      <a:pPr>
                        <a:defRPr sz="1000" b="1">
                          <a:solidFill>
                            <a:srgbClr val="107C8A"/>
                          </a:solidFill>
                        </a:defRPr>
                      </a:pPr>
                      <a:r>
                        <a:t>Reject H₀ (α=0.05)</a:t>
                      </a:r>
                    </a:p>
                    <a:p>
                      <a:pPr>
                        <a:defRPr sz="1000" b="1">
                          <a:solidFill>
                            <a:srgbClr val="107C8A"/>
                          </a:solidFill>
                        </a:defRPr>
                      </a:pPr>
                      <a:r>
                        <a:t>Holidays have lower demand</a:t>
                      </a:r>
                    </a:p>
                  </a:txBody>
                  <a:tcPr>
                    <a:solidFill>
                      <a:srgbClr val="FFFFFF"/>
                    </a:solidFill>
                  </a:tcPr>
                </a:tc>
              </a:tr>
              <a:tr h="718457">
                <a:tc>
                  <a:txBody>
                    <a:bodyPr/>
                    <a:lstStyle/>
                    <a:p>
                      <a:pPr>
                        <a:defRPr sz="1000"/>
                      </a:pPr>
                      <a:r>
                        <a:t>Test 4</a:t>
                      </a:r>
                    </a:p>
                  </a:txBody>
                  <a:tcPr>
                    <a:solidFill>
                      <a:srgbClr val="F0F4F8"/>
                    </a:solidFill>
                  </a:tcPr>
                </a:tc>
                <a:tc>
                  <a:txBody>
                    <a:bodyPr/>
                    <a:lstStyle/>
                    <a:p>
                      <a:pPr>
                        <a:defRPr sz="1000"/>
                      </a:pPr>
                      <a:r>
                        <a:t>H₀: Mean rentals equal across seasons</a:t>
                      </a:r>
                    </a:p>
                    <a:p>
                      <a:pPr>
                        <a:defRPr sz="1000"/>
                      </a:pPr>
                      <a:r>
                        <a:t>(Assess seasonality)</a:t>
                      </a:r>
                    </a:p>
                  </a:txBody>
                  <a:tcPr>
                    <a:solidFill>
                      <a:srgbClr val="F0F4F8"/>
                    </a:solidFill>
                  </a:tcPr>
                </a:tc>
                <a:tc>
                  <a:txBody>
                    <a:bodyPr/>
                    <a:lstStyle/>
                    <a:p>
                      <a:pPr>
                        <a:defRPr sz="1000"/>
                      </a:pPr>
                      <a:r>
                        <a:t>One-Way ANOVA</a:t>
                      </a:r>
                    </a:p>
                  </a:txBody>
                  <a:tcPr>
                    <a:solidFill>
                      <a:srgbClr val="F0F4F8"/>
                    </a:solidFill>
                  </a:tcPr>
                </a:tc>
                <a:tc>
                  <a:txBody>
                    <a:bodyPr/>
                    <a:lstStyle/>
                    <a:p>
                      <a:pPr>
                        <a:defRPr sz="1000"/>
                      </a:pPr>
                      <a:r>
                        <a:t>F = 128.77</a:t>
                      </a:r>
                    </a:p>
                    <a:p>
                      <a:pPr>
                        <a:defRPr sz="1000"/>
                      </a:pPr>
                      <a:r>
                        <a:t>p = 6.15 × 10⁻⁶⁷</a:t>
                      </a:r>
                    </a:p>
                  </a:txBody>
                  <a:tcPr>
                    <a:solidFill>
                      <a:srgbClr val="F0F4F8"/>
                    </a:solidFill>
                  </a:tcPr>
                </a:tc>
                <a:tc>
                  <a:txBody>
                    <a:bodyPr/>
                    <a:lstStyle/>
                    <a:p>
                      <a:pPr>
                        <a:defRPr sz="1000" b="1">
                          <a:solidFill>
                            <a:srgbClr val="107C8A"/>
                          </a:solidFill>
                        </a:defRPr>
                      </a:pPr>
                      <a:r>
                        <a:t>Reject H₀</a:t>
                      </a:r>
                    </a:p>
                    <a:p>
                      <a:pPr>
                        <a:defRPr sz="1000" b="1">
                          <a:solidFill>
                            <a:srgbClr val="107C8A"/>
                          </a:solidFill>
                        </a:defRPr>
                      </a:pPr>
                      <a:r>
                        <a:t>Fall/Summer dominate</a:t>
                      </a:r>
                    </a:p>
                  </a:txBody>
                  <a:tcPr>
                    <a:solidFill>
                      <a:srgbClr val="F0F4F8"/>
                    </a:solidFill>
                  </a:tcPr>
                </a:tc>
              </a:tr>
              <a:tr h="718457">
                <a:tc>
                  <a:txBody>
                    <a:bodyPr/>
                    <a:lstStyle/>
                    <a:p>
                      <a:pPr>
                        <a:defRPr sz="1000"/>
                      </a:pPr>
                      <a:r>
                        <a:t>Test 5</a:t>
                      </a:r>
                    </a:p>
                  </a:txBody>
                  <a:tcPr>
                    <a:solidFill>
                      <a:srgbClr val="FFFFFF"/>
                    </a:solidFill>
                  </a:tcPr>
                </a:tc>
                <a:tc>
                  <a:txBody>
                    <a:bodyPr/>
                    <a:lstStyle/>
                    <a:p>
                      <a:pPr>
                        <a:defRPr sz="1000"/>
                      </a:pPr>
                      <a:r>
                        <a:t>H₀: Pearson correlation ρ = 0</a:t>
                      </a:r>
                    </a:p>
                    <a:p>
                      <a:pPr>
                        <a:defRPr sz="1000"/>
                      </a:pPr>
                      <a:r>
                        <a:t>(Assess temperature influence)</a:t>
                      </a:r>
                    </a:p>
                  </a:txBody>
                  <a:tcPr>
                    <a:solidFill>
                      <a:srgbClr val="FFFFFF"/>
                    </a:solidFill>
                  </a:tcPr>
                </a:tc>
                <a:tc>
                  <a:txBody>
                    <a:bodyPr/>
                    <a:lstStyle/>
                    <a:p>
                      <a:pPr>
                        <a:defRPr sz="1000"/>
                      </a:pPr>
                      <a:r>
                        <a:t>Pearson Correlation Test</a:t>
                      </a:r>
                    </a:p>
                  </a:txBody>
                  <a:tcPr>
                    <a:solidFill>
                      <a:srgbClr val="FFFFFF"/>
                    </a:solidFill>
                  </a:tcPr>
                </a:tc>
                <a:tc>
                  <a:txBody>
                    <a:bodyPr/>
                    <a:lstStyle/>
                    <a:p>
                      <a:pPr>
                        <a:defRPr sz="1000"/>
                      </a:pPr>
                      <a:r>
                        <a:t>r = +0.627</a:t>
                      </a:r>
                    </a:p>
                    <a:p>
                      <a:pPr>
                        <a:defRPr sz="1000"/>
                      </a:pPr>
                      <a:r>
                        <a:t>p = 2.81 × 10⁻⁸¹</a:t>
                      </a:r>
                    </a:p>
                  </a:txBody>
                  <a:tcPr>
                    <a:solidFill>
                      <a:srgbClr val="FFFFFF"/>
                    </a:solidFill>
                  </a:tcPr>
                </a:tc>
                <a:tc>
                  <a:txBody>
                    <a:bodyPr/>
                    <a:lstStyle/>
                    <a:p>
                      <a:pPr>
                        <a:defRPr sz="1000" b="1">
                          <a:solidFill>
                            <a:srgbClr val="107C8A"/>
                          </a:solidFill>
                        </a:defRPr>
                      </a:pPr>
                      <a:r>
                        <a:t>Reject H₀</a:t>
                      </a:r>
                    </a:p>
                    <a:p>
                      <a:pPr>
                        <a:defRPr sz="1000" b="1">
                          <a:solidFill>
                            <a:srgbClr val="107C8A"/>
                          </a:solidFill>
                        </a:defRPr>
                      </a:pPr>
                      <a:r>
                        <a:t>Very strong positive link</a:t>
                      </a:r>
                    </a:p>
                  </a:txBody>
                  <a:tcPr>
                    <a:solidFill>
                      <a:srgbClr val="FFFFFF"/>
                    </a:solidFill>
                  </a:tcPr>
                </a:tc>
              </a:tr>
              <a:tr h="718458">
                <a:tc>
                  <a:txBody>
                    <a:bodyPr/>
                    <a:lstStyle/>
                    <a:p>
                      <a:pPr>
                        <a:defRPr sz="1000"/>
                      </a:pPr>
                      <a:r>
                        <a:t>Test 6</a:t>
                      </a:r>
                    </a:p>
                  </a:txBody>
                  <a:tcPr>
                    <a:solidFill>
                      <a:srgbClr val="F0F4F8"/>
                    </a:solidFill>
                  </a:tcPr>
                </a:tc>
                <a:tc>
                  <a:txBody>
                    <a:bodyPr/>
                    <a:lstStyle/>
                    <a:p>
                      <a:pPr>
                        <a:defRPr sz="1000"/>
                      </a:pPr>
                      <a:r>
                        <a:t>H₀: User type independent of day type</a:t>
                      </a:r>
                    </a:p>
                    <a:p>
                      <a:pPr>
                        <a:defRPr sz="1000"/>
                      </a:pPr>
                      <a:r>
                        <a:t>(Casual vs. Registered)</a:t>
                      </a:r>
                    </a:p>
                  </a:txBody>
                  <a:tcPr>
                    <a:solidFill>
                      <a:srgbClr val="F0F4F8"/>
                    </a:solidFill>
                  </a:tcPr>
                </a:tc>
                <a:tc>
                  <a:txBody>
                    <a:bodyPr/>
                    <a:lstStyle/>
                    <a:p>
                      <a:pPr>
                        <a:defRPr sz="1000"/>
                      </a:pPr>
                      <a:r>
                        <a:t>Chi-Square Test (Independence)</a:t>
                      </a:r>
                    </a:p>
                  </a:txBody>
                  <a:tcPr>
                    <a:solidFill>
                      <a:srgbClr val="F0F4F8"/>
                    </a:solidFill>
                  </a:tcPr>
                </a:tc>
                <a:tc>
                  <a:txBody>
                    <a:bodyPr/>
                    <a:lstStyle/>
                    <a:p>
                      <a:pPr>
                        <a:defRPr sz="1000"/>
                      </a:pPr>
                      <a:r>
                        <a:t>χ² = 3,051.8</a:t>
                      </a:r>
                    </a:p>
                    <a:p>
                      <a:pPr>
                        <a:defRPr sz="1000"/>
                      </a:pPr>
                      <a:r>
                        <a:t>p &lt; 1.0 × 10⁻³⁰⁰</a:t>
                      </a:r>
                    </a:p>
                  </a:txBody>
                  <a:tcPr>
                    <a:solidFill>
                      <a:srgbClr val="F0F4F8"/>
                    </a:solidFill>
                  </a:tcPr>
                </a:tc>
                <a:tc>
                  <a:txBody>
                    <a:bodyPr/>
                    <a:lstStyle/>
                    <a:p>
                      <a:pPr>
                        <a:defRPr sz="1000" b="1">
                          <a:solidFill>
                            <a:srgbClr val="107C8A"/>
                          </a:solidFill>
                        </a:defRPr>
                      </a:pPr>
                      <a:r>
                        <a:t>Reject H₀</a:t>
                      </a:r>
                    </a:p>
                    <a:p>
                      <a:pPr>
                        <a:defRPr sz="1000" b="1">
                          <a:solidFill>
                            <a:srgbClr val="107C8A"/>
                          </a:solidFill>
                        </a:defRPr>
                      </a:pPr>
                      <a:r>
                        <a:t>User behavior differs drastically</a:t>
                      </a:r>
                    </a:p>
                  </a:txBody>
                  <a:tcPr>
                    <a:solidFill>
                      <a:srgbClr val="F0F4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none">
            <a:spAutoFit/>
          </a:bodyPr>
          <a:lstStyle/>
          <a:p>
            <a:pPr>
              <a:defRPr sz="1000" b="1">
                <a:solidFill>
                  <a:srgbClr val="107C8A"/>
                </a:solidFill>
              </a:defRPr>
            </a:pPr>
            <a:r>
              <a:t>SLIDE 7 OF 12 (7 MARKS)</a:t>
            </a:r>
          </a:p>
        </p:txBody>
      </p:sp>
      <p:sp>
        <p:nvSpPr>
          <p:cNvPr id="5" name="TextBox 4"/>
          <p:cNvSpPr txBox="1"/>
          <p:nvPr/>
        </p:nvSpPr>
        <p:spPr>
          <a:xfrm>
            <a:off x="731520" y="365760"/>
            <a:ext cx="10698480" cy="548640"/>
          </a:xfrm>
          <a:prstGeom prst="rect">
            <a:avLst/>
          </a:prstGeom>
          <a:noFill/>
        </p:spPr>
        <p:txBody>
          <a:bodyPr wrap="none">
            <a:spAutoFit/>
          </a:bodyPr>
          <a:lstStyle/>
          <a:p>
            <a:pPr>
              <a:defRPr sz="2200" b="1">
                <a:solidFill>
                  <a:srgbClr val="FFFFFF"/>
                </a:solidFill>
              </a:defRPr>
            </a:pPr>
            <a:r>
              <a:t>ML Regression &amp; Demand Prediction — Model Justification</a:t>
            </a:r>
          </a:p>
        </p:txBody>
      </p:sp>
      <p:sp>
        <p:nvSpPr>
          <p:cNvPr id="6" name="Rounded Rectangle 5"/>
          <p:cNvSpPr/>
          <p:nvPr/>
        </p:nvSpPr>
        <p:spPr>
          <a:xfrm>
            <a:off x="731520" y="1280160"/>
            <a:ext cx="5120640" cy="50292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19"/>
            <a:ext cx="4663440" cy="365760"/>
          </a:xfrm>
          <a:prstGeom prst="rect">
            <a:avLst/>
          </a:prstGeom>
          <a:noFill/>
        </p:spPr>
        <p:txBody>
          <a:bodyPr wrap="none">
            <a:spAutoFit/>
          </a:bodyPr>
          <a:lstStyle/>
          <a:p>
            <a:pPr>
              <a:defRPr sz="1400" b="1">
                <a:solidFill>
                  <a:srgbClr val="182B49"/>
                </a:solidFill>
              </a:defRPr>
            </a:pPr>
            <a:r>
              <a:t>1. Model Performance Benchmark</a:t>
            </a:r>
          </a:p>
        </p:txBody>
      </p:sp>
      <p:sp>
        <p:nvSpPr>
          <p:cNvPr id="8" name="TextBox 7"/>
          <p:cNvSpPr txBox="1"/>
          <p:nvPr/>
        </p:nvSpPr>
        <p:spPr>
          <a:xfrm>
            <a:off x="914400" y="1828800"/>
            <a:ext cx="4754880" cy="4297680"/>
          </a:xfrm>
          <a:prstGeom prst="rect">
            <a:avLst/>
          </a:prstGeom>
          <a:noFill/>
        </p:spPr>
        <p:txBody>
          <a:bodyPr wrap="square">
            <a:spAutoFit/>
          </a:bodyPr>
          <a:lstStyle/>
          <a:p>
            <a:r>
              <a:t>• Modeling Framework: 80/20 Train-Test Split (584 train / 147 test days)</a:t>
            </a:r>
          </a:p>
          <a:p/>
          <a:p>
            <a:r>
              <a:t>Model Comparison Table:</a:t>
            </a:r>
          </a:p>
          <a:p>
            <a:r>
              <a:t>--------------------------------------------------</a:t>
            </a:r>
          </a:p>
          <a:p>
            <a:r>
              <a:t>Model                R² Score    MAE (Bikes)    RMSE</a:t>
            </a:r>
          </a:p>
          <a:p>
            <a:r>
              <a:t>Linear Regression    0.793       618.4          858.9</a:t>
            </a:r>
          </a:p>
          <a:p>
            <a:r>
              <a:t>Ridge Regression     0.793       617.9          859.3</a:t>
            </a:r>
          </a:p>
          <a:p>
            <a:r>
              <a:t>Random Forest        0.887       439.1          634.2</a:t>
            </a:r>
          </a:p>
          <a:p>
            <a:r>
              <a:t>Gradient Boosting    0.886       446.8          637.5</a:t>
            </a:r>
          </a:p>
          <a:p>
            <a:r>
              <a:t>--------------------------------------------------</a:t>
            </a:r>
          </a:p>
          <a:p/>
          <a:p>
            <a:r>
              <a:t>• Selected Model: Random Forest Regressor</a:t>
            </a:r>
          </a:p>
          <a:p>
            <a:r>
              <a:t>  Achieved highest R² (~89%) and lowest MAE (439 bikes/day).</a:t>
            </a:r>
          </a:p>
        </p:txBody>
      </p:sp>
      <p:sp>
        <p:nvSpPr>
          <p:cNvPr id="9" name="Rounded Rectangle 8"/>
          <p:cNvSpPr/>
          <p:nvPr/>
        </p:nvSpPr>
        <p:spPr>
          <a:xfrm>
            <a:off x="6309360" y="1280160"/>
            <a:ext cx="5120640" cy="50292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417319"/>
            <a:ext cx="4663440" cy="365760"/>
          </a:xfrm>
          <a:prstGeom prst="rect">
            <a:avLst/>
          </a:prstGeom>
          <a:noFill/>
        </p:spPr>
        <p:txBody>
          <a:bodyPr wrap="none">
            <a:spAutoFit/>
          </a:bodyPr>
          <a:lstStyle/>
          <a:p>
            <a:pPr>
              <a:defRPr sz="1400" b="1">
                <a:solidFill>
                  <a:srgbClr val="182B49"/>
                </a:solidFill>
              </a:defRPr>
            </a:pPr>
            <a:r>
              <a:t>2. Justification &amp; Feature Importance</a:t>
            </a:r>
          </a:p>
        </p:txBody>
      </p:sp>
      <p:sp>
        <p:nvSpPr>
          <p:cNvPr id="11" name="TextBox 10"/>
          <p:cNvSpPr txBox="1"/>
          <p:nvPr/>
        </p:nvSpPr>
        <p:spPr>
          <a:xfrm>
            <a:off x="6492240" y="1828800"/>
            <a:ext cx="4754880" cy="4297680"/>
          </a:xfrm>
          <a:prstGeom prst="rect">
            <a:avLst/>
          </a:prstGeom>
          <a:noFill/>
        </p:spPr>
        <p:txBody>
          <a:bodyPr wrap="square">
            <a:spAutoFit/>
          </a:bodyPr>
          <a:lstStyle/>
          <a:p>
            <a:r>
              <a:t>• Why Random Forest over Linear Models?</a:t>
            </a:r>
          </a:p>
          <a:p>
            <a:r>
              <a:t>  Non-linear thermal thresholds and interaction effects (e.g. rain × cold)   violate linear regression assumptions. Random Forest captures these non-linearities without overfitting.</a:t>
            </a:r>
          </a:p>
          <a:p/>
          <a:p>
            <a:r>
              <a:t>• Top Feature Importances (Random Forest):</a:t>
            </a:r>
          </a:p>
          <a:p>
            <a:r>
              <a:t>  1. temp_actual (34.2%): Primary environmental driver.</a:t>
            </a:r>
          </a:p>
          <a:p>
            <a:r>
              <a:t>  2. yr (28.6%): Rapid annual network adoption.</a:t>
            </a:r>
          </a:p>
          <a:p>
            <a:r>
              <a:t>  3. hum_actual (12.4%): Rider discomfort metric.</a:t>
            </a:r>
          </a:p>
          <a:p>
            <a:r>
              <a:t>  4. season (9.1%): Macro climate baseline.</a:t>
            </a:r>
          </a:p>
          <a:p/>
          <a:p>
            <a:r>
              <a:t>• Strictly NOT a Pure ML Project:</a:t>
            </a:r>
          </a:p>
          <a:p>
            <a:r>
              <a:t>  The ML model is used as a validation engine for the EDA findings, confirming   that the drivers identified are statistically learnable.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none">
            <a:spAutoFit/>
          </a:bodyPr>
          <a:lstStyle/>
          <a:p>
            <a:pPr>
              <a:defRPr sz="1000" b="1">
                <a:solidFill>
                  <a:srgbClr val="107C8A"/>
                </a:solidFill>
              </a:defRPr>
            </a:pPr>
            <a:r>
              <a:t>SLIDE 8 OF 12</a:t>
            </a:r>
          </a:p>
        </p:txBody>
      </p:sp>
      <p:sp>
        <p:nvSpPr>
          <p:cNvPr id="5" name="TextBox 4"/>
          <p:cNvSpPr txBox="1"/>
          <p:nvPr/>
        </p:nvSpPr>
        <p:spPr>
          <a:xfrm>
            <a:off x="731520" y="365760"/>
            <a:ext cx="10698480" cy="548640"/>
          </a:xfrm>
          <a:prstGeom prst="rect">
            <a:avLst/>
          </a:prstGeom>
          <a:noFill/>
        </p:spPr>
        <p:txBody>
          <a:bodyPr wrap="none">
            <a:spAutoFit/>
          </a:bodyPr>
          <a:lstStyle/>
          <a:p>
            <a:pPr>
              <a:defRPr sz="2200" b="1">
                <a:solidFill>
                  <a:srgbClr val="FFFFFF"/>
                </a:solidFill>
              </a:defRPr>
            </a:pPr>
            <a:r>
              <a:t>Interactive BI Dashboard — Power BI &amp; Tableau Wireframe</a:t>
            </a:r>
          </a:p>
        </p:txBody>
      </p:sp>
      <p:sp>
        <p:nvSpPr>
          <p:cNvPr id="6" name="Rounded Rectangle 5"/>
          <p:cNvSpPr/>
          <p:nvPr/>
        </p:nvSpPr>
        <p:spPr>
          <a:xfrm>
            <a:off x="731520" y="1280160"/>
            <a:ext cx="6035040" cy="50292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19"/>
            <a:ext cx="5577840" cy="365760"/>
          </a:xfrm>
          <a:prstGeom prst="rect">
            <a:avLst/>
          </a:prstGeom>
          <a:noFill/>
        </p:spPr>
        <p:txBody>
          <a:bodyPr wrap="none">
            <a:spAutoFit/>
          </a:bodyPr>
          <a:lstStyle/>
          <a:p>
            <a:pPr>
              <a:defRPr sz="1400" b="1">
                <a:solidFill>
                  <a:srgbClr val="182B49"/>
                </a:solidFill>
              </a:defRPr>
            </a:pPr>
            <a:r>
              <a:t>1. Executive Dashboard Layout &amp; Visual Modules</a:t>
            </a:r>
          </a:p>
        </p:txBody>
      </p:sp>
      <p:sp>
        <p:nvSpPr>
          <p:cNvPr id="8" name="TextBox 7"/>
          <p:cNvSpPr txBox="1"/>
          <p:nvPr/>
        </p:nvSpPr>
        <p:spPr>
          <a:xfrm>
            <a:off x="914400" y="1828800"/>
            <a:ext cx="5669280" cy="4297680"/>
          </a:xfrm>
          <a:prstGeom prst="rect">
            <a:avLst/>
          </a:prstGeom>
          <a:noFill/>
        </p:spPr>
        <p:txBody>
          <a:bodyPr wrap="square">
            <a:spAutoFit/>
          </a:bodyPr>
          <a:lstStyle/>
          <a:p>
            <a:r>
              <a:t>• Executive KPI Cards:</a:t>
            </a:r>
          </a:p>
          <a:p>
            <a:r>
              <a:t>  [ Total Fleet Rentals: 3.29M ]   [ Daily Mean: 4,504 ]   [ YoY Growth: +64.5% ]</a:t>
            </a:r>
          </a:p>
          <a:p/>
          <a:p>
            <a:r>
              <a:t>• Commuter Heatmap Module:</a:t>
            </a:r>
          </a:p>
          <a:p>
            <a:r>
              <a:t>  Hour-of-day vs. Day-of-week 2D matrix visually flagging the 8 AM &amp; 5 PM rush hours.</a:t>
            </a:r>
          </a:p>
          <a:p/>
          <a:p>
            <a:r>
              <a:t>• Dynamic Interactive Slicers:</a:t>
            </a:r>
          </a:p>
          <a:p>
            <a:r>
              <a:t>  Cross-filter by Year (2011/2012), Season (1–4), Weather Severity, and Day Type.</a:t>
            </a:r>
          </a:p>
          <a:p/>
          <a:p>
            <a:r>
              <a:t>• Actual vs. Forecast Tracking:</a:t>
            </a:r>
          </a:p>
          <a:p>
            <a:r>
              <a:t>  Dual-line visual tracking real-time demand against Random Forest day-ahead predictions.</a:t>
            </a:r>
          </a:p>
        </p:txBody>
      </p:sp>
      <p:sp>
        <p:nvSpPr>
          <p:cNvPr id="9" name="Rounded Rectangle 8"/>
          <p:cNvSpPr/>
          <p:nvPr/>
        </p:nvSpPr>
        <p:spPr>
          <a:xfrm>
            <a:off x="7132320" y="1280160"/>
            <a:ext cx="4297680" cy="50292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0920" y="1417319"/>
            <a:ext cx="3840480" cy="365760"/>
          </a:xfrm>
          <a:prstGeom prst="rect">
            <a:avLst/>
          </a:prstGeom>
          <a:noFill/>
        </p:spPr>
        <p:txBody>
          <a:bodyPr wrap="none">
            <a:spAutoFit/>
          </a:bodyPr>
          <a:lstStyle/>
          <a:p>
            <a:pPr>
              <a:defRPr sz="1400" b="1">
                <a:solidFill>
                  <a:srgbClr val="182B49"/>
                </a:solidFill>
              </a:defRPr>
            </a:pPr>
            <a:r>
              <a:t>2. Full-Stack Data Pipeline (Bonus Marks)</a:t>
            </a:r>
          </a:p>
        </p:txBody>
      </p:sp>
      <p:sp>
        <p:nvSpPr>
          <p:cNvPr id="11" name="TextBox 10"/>
          <p:cNvSpPr txBox="1"/>
          <p:nvPr/>
        </p:nvSpPr>
        <p:spPr>
          <a:xfrm>
            <a:off x="7315200" y="1828800"/>
            <a:ext cx="3931920" cy="4297680"/>
          </a:xfrm>
          <a:prstGeom prst="rect">
            <a:avLst/>
          </a:prstGeom>
          <a:noFill/>
        </p:spPr>
        <p:txBody>
          <a:bodyPr wrap="square">
            <a:spAutoFit/>
          </a:bodyPr>
          <a:lstStyle/>
          <a:p>
            <a:r>
              <a:t>• Full-Stack Architecture:</a:t>
            </a:r>
          </a:p>
          <a:p>
            <a:r>
              <a:t>  1. Python Backend / Data Prep</a:t>
            </a:r>
          </a:p>
          <a:p>
            <a:r>
              <a:t>     Cleans and denormalizes raw telemetry.</a:t>
            </a:r>
          </a:p>
          <a:p>
            <a:r>
              <a:t>  2. Scikit-Learn Inference Engine</a:t>
            </a:r>
          </a:p>
          <a:p>
            <a:r>
              <a:t>     Generates live daily predictions.</a:t>
            </a:r>
          </a:p>
          <a:p>
            <a:r>
              <a:t>  3. Automated Data Exports:</a:t>
            </a:r>
          </a:p>
          <a:p>
            <a:r>
              <a:t>     • bike_sharing_daily_processed.csv</a:t>
            </a:r>
          </a:p>
          <a:p>
            <a:r>
              <a:t>     • bike_sharing_hourly_processed.csv</a:t>
            </a:r>
          </a:p>
          <a:p>
            <a:r>
              <a:t>     • model_predictions.csv</a:t>
            </a:r>
          </a:p>
          <a:p>
            <a:r>
              <a:t>  4. Power BI / Tableau Frontend:</a:t>
            </a:r>
          </a:p>
          <a:p>
            <a:r>
              <a:t>     Direct connection via Web Data Connector for live operational updates.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none">
            <a:spAutoFit/>
          </a:bodyPr>
          <a:lstStyle/>
          <a:p>
            <a:pPr>
              <a:defRPr sz="1000" b="1">
                <a:solidFill>
                  <a:srgbClr val="107C8A"/>
                </a:solidFill>
              </a:defRPr>
            </a:pPr>
            <a:r>
              <a:t>SLIDE 9 OF 12</a:t>
            </a:r>
          </a:p>
        </p:txBody>
      </p:sp>
      <p:sp>
        <p:nvSpPr>
          <p:cNvPr id="5" name="TextBox 4"/>
          <p:cNvSpPr txBox="1"/>
          <p:nvPr/>
        </p:nvSpPr>
        <p:spPr>
          <a:xfrm>
            <a:off x="731520" y="365760"/>
            <a:ext cx="10698480" cy="548640"/>
          </a:xfrm>
          <a:prstGeom prst="rect">
            <a:avLst/>
          </a:prstGeom>
          <a:noFill/>
        </p:spPr>
        <p:txBody>
          <a:bodyPr wrap="none">
            <a:spAutoFit/>
          </a:bodyPr>
          <a:lstStyle/>
          <a:p>
            <a:pPr>
              <a:defRPr sz="2200" b="1">
                <a:solidFill>
                  <a:srgbClr val="FFFFFF"/>
                </a:solidFill>
              </a:defRPr>
            </a:pPr>
            <a:r>
              <a:t>Key Findings &amp; Managerial Interpretation</a:t>
            </a:r>
          </a:p>
        </p:txBody>
      </p:sp>
      <p:sp>
        <p:nvSpPr>
          <p:cNvPr id="6" name="Rounded Rectangle 5"/>
          <p:cNvSpPr/>
          <p:nvPr/>
        </p:nvSpPr>
        <p:spPr>
          <a:xfrm>
            <a:off x="731520" y="1280160"/>
            <a:ext cx="5120640" cy="2468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19"/>
            <a:ext cx="4663440" cy="365760"/>
          </a:xfrm>
          <a:prstGeom prst="rect">
            <a:avLst/>
          </a:prstGeom>
          <a:noFill/>
        </p:spPr>
        <p:txBody>
          <a:bodyPr wrap="none">
            <a:spAutoFit/>
          </a:bodyPr>
          <a:lstStyle/>
          <a:p>
            <a:pPr>
              <a:defRPr sz="1400" b="1">
                <a:solidFill>
                  <a:srgbClr val="107C8A"/>
                </a:solidFill>
              </a:defRPr>
            </a:pPr>
            <a:r>
              <a:t>1. Commuter Rebalancing Window</a:t>
            </a:r>
          </a:p>
        </p:txBody>
      </p:sp>
      <p:sp>
        <p:nvSpPr>
          <p:cNvPr id="8" name="TextBox 7"/>
          <p:cNvSpPr txBox="1"/>
          <p:nvPr/>
        </p:nvSpPr>
        <p:spPr>
          <a:xfrm>
            <a:off x="914400" y="1783080"/>
            <a:ext cx="4754880" cy="1828800"/>
          </a:xfrm>
          <a:prstGeom prst="rect">
            <a:avLst/>
          </a:prstGeom>
          <a:noFill/>
        </p:spPr>
        <p:txBody>
          <a:bodyPr wrap="square">
            <a:spAutoFit/>
          </a:bodyPr>
          <a:lstStyle/>
          <a:p>
            <a:pPr>
              <a:defRPr sz="1300">
                <a:solidFill>
                  <a:srgbClr val="323232"/>
                </a:solidFill>
              </a:defRPr>
            </a:pPr>
            <a:r>
              <a:t>Registered commuters follow strict 8 AM &amp; 5 PM peaks. Operations must dispatch rebalancing vans 30 mins before peak hours to prevent station depletion.</a:t>
            </a:r>
          </a:p>
        </p:txBody>
      </p:sp>
      <p:sp>
        <p:nvSpPr>
          <p:cNvPr id="9" name="Rounded Rectangle 8"/>
          <p:cNvSpPr/>
          <p:nvPr/>
        </p:nvSpPr>
        <p:spPr>
          <a:xfrm>
            <a:off x="6309360" y="1280160"/>
            <a:ext cx="5120640" cy="2468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417319"/>
            <a:ext cx="4663440" cy="365760"/>
          </a:xfrm>
          <a:prstGeom prst="rect">
            <a:avLst/>
          </a:prstGeom>
          <a:noFill/>
        </p:spPr>
        <p:txBody>
          <a:bodyPr wrap="none">
            <a:spAutoFit/>
          </a:bodyPr>
          <a:lstStyle/>
          <a:p>
            <a:pPr>
              <a:defRPr sz="1400" b="1">
                <a:solidFill>
                  <a:srgbClr val="107C8A"/>
                </a:solidFill>
              </a:defRPr>
            </a:pPr>
            <a:r>
              <a:t>2. Weather Sensitivity Shielding</a:t>
            </a:r>
          </a:p>
        </p:txBody>
      </p:sp>
      <p:sp>
        <p:nvSpPr>
          <p:cNvPr id="11" name="TextBox 10"/>
          <p:cNvSpPr txBox="1"/>
          <p:nvPr/>
        </p:nvSpPr>
        <p:spPr>
          <a:xfrm>
            <a:off x="6492240" y="1783080"/>
            <a:ext cx="4754880" cy="1828800"/>
          </a:xfrm>
          <a:prstGeom prst="rect">
            <a:avLst/>
          </a:prstGeom>
          <a:noFill/>
        </p:spPr>
        <p:txBody>
          <a:bodyPr wrap="square">
            <a:spAutoFit/>
          </a:bodyPr>
          <a:lstStyle/>
          <a:p>
            <a:pPr>
              <a:defRPr sz="1300">
                <a:solidFill>
                  <a:srgbClr val="323232"/>
                </a:solidFill>
              </a:defRPr>
            </a:pPr>
            <a:r>
              <a:t>Adverse weather drops ridership by &gt;75%. Fleet managers should schedule major bike maintenance on rainy days to maximize availability on sunny days.</a:t>
            </a:r>
          </a:p>
        </p:txBody>
      </p:sp>
      <p:sp>
        <p:nvSpPr>
          <p:cNvPr id="12" name="Rounded Rectangle 11"/>
          <p:cNvSpPr/>
          <p:nvPr/>
        </p:nvSpPr>
        <p:spPr>
          <a:xfrm>
            <a:off x="731520" y="3840480"/>
            <a:ext cx="5120640" cy="2468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977640"/>
            <a:ext cx="4663440" cy="365760"/>
          </a:xfrm>
          <a:prstGeom prst="rect">
            <a:avLst/>
          </a:prstGeom>
          <a:noFill/>
        </p:spPr>
        <p:txBody>
          <a:bodyPr wrap="none">
            <a:spAutoFit/>
          </a:bodyPr>
          <a:lstStyle/>
          <a:p>
            <a:pPr>
              <a:defRPr sz="1400" b="1">
                <a:solidFill>
                  <a:srgbClr val="107C8A"/>
                </a:solidFill>
              </a:defRPr>
            </a:pPr>
            <a:r>
              <a:t>3. Casual User Conversion</a:t>
            </a:r>
          </a:p>
        </p:txBody>
      </p:sp>
      <p:sp>
        <p:nvSpPr>
          <p:cNvPr id="14" name="TextBox 13"/>
          <p:cNvSpPr txBox="1"/>
          <p:nvPr/>
        </p:nvSpPr>
        <p:spPr>
          <a:xfrm>
            <a:off x="914400" y="4343400"/>
            <a:ext cx="4754880" cy="1828800"/>
          </a:xfrm>
          <a:prstGeom prst="rect">
            <a:avLst/>
          </a:prstGeom>
          <a:noFill/>
        </p:spPr>
        <p:txBody>
          <a:bodyPr wrap="square">
            <a:spAutoFit/>
          </a:bodyPr>
          <a:lstStyle/>
          <a:p>
            <a:pPr>
              <a:defRPr sz="1300">
                <a:solidFill>
                  <a:srgbClr val="323232"/>
                </a:solidFill>
              </a:defRPr>
            </a:pPr>
            <a:r>
              <a:t>Casual riders dominate warm weekend afternoons. Introducing weekend commuter trial passes can convert leisure users into high-margin annual subscribers.</a:t>
            </a:r>
          </a:p>
        </p:txBody>
      </p:sp>
      <p:sp>
        <p:nvSpPr>
          <p:cNvPr id="15" name="Rounded Rectangle 14"/>
          <p:cNvSpPr/>
          <p:nvPr/>
        </p:nvSpPr>
        <p:spPr>
          <a:xfrm>
            <a:off x="6309360" y="3840480"/>
            <a:ext cx="5120640" cy="2468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3977640"/>
            <a:ext cx="4663440" cy="365760"/>
          </a:xfrm>
          <a:prstGeom prst="rect">
            <a:avLst/>
          </a:prstGeom>
          <a:noFill/>
        </p:spPr>
        <p:txBody>
          <a:bodyPr wrap="none">
            <a:spAutoFit/>
          </a:bodyPr>
          <a:lstStyle/>
          <a:p>
            <a:pPr>
              <a:defRPr sz="1400" b="1">
                <a:solidFill>
                  <a:srgbClr val="107C8A"/>
                </a:solidFill>
              </a:defRPr>
            </a:pPr>
            <a:r>
              <a:t>4. High-Precision Staging</a:t>
            </a:r>
          </a:p>
        </p:txBody>
      </p:sp>
      <p:sp>
        <p:nvSpPr>
          <p:cNvPr id="17" name="TextBox 16"/>
          <p:cNvSpPr txBox="1"/>
          <p:nvPr/>
        </p:nvSpPr>
        <p:spPr>
          <a:xfrm>
            <a:off x="6492240" y="4343400"/>
            <a:ext cx="4754880" cy="1828800"/>
          </a:xfrm>
          <a:prstGeom prst="rect">
            <a:avLst/>
          </a:prstGeom>
          <a:noFill/>
        </p:spPr>
        <p:txBody>
          <a:bodyPr wrap="square">
            <a:spAutoFit/>
          </a:bodyPr>
          <a:lstStyle/>
          <a:p>
            <a:pPr>
              <a:defRPr sz="1300">
                <a:solidFill>
                  <a:srgbClr val="323232"/>
                </a:solidFill>
              </a:defRPr>
            </a:pPr>
            <a:r>
              <a:t>Random Forest's 89% accuracy enables accurate 24-hour advance staging, reducing truck mileage and preventing both stockouts and dock overflow.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none">
            <a:spAutoFit/>
          </a:bodyPr>
          <a:lstStyle/>
          <a:p>
            <a:pPr>
              <a:defRPr sz="1000" b="1">
                <a:solidFill>
                  <a:srgbClr val="107C8A"/>
                </a:solidFill>
              </a:defRPr>
            </a:pPr>
            <a:r>
              <a:t>SLIDE 10 OF 12</a:t>
            </a:r>
          </a:p>
        </p:txBody>
      </p:sp>
      <p:sp>
        <p:nvSpPr>
          <p:cNvPr id="5" name="TextBox 4"/>
          <p:cNvSpPr txBox="1"/>
          <p:nvPr/>
        </p:nvSpPr>
        <p:spPr>
          <a:xfrm>
            <a:off x="731520" y="365760"/>
            <a:ext cx="10698480" cy="548640"/>
          </a:xfrm>
          <a:prstGeom prst="rect">
            <a:avLst/>
          </a:prstGeom>
          <a:noFill/>
        </p:spPr>
        <p:txBody>
          <a:bodyPr wrap="none">
            <a:spAutoFit/>
          </a:bodyPr>
          <a:lstStyle/>
          <a:p>
            <a:pPr>
              <a:defRPr sz="2200" b="1">
                <a:solidFill>
                  <a:srgbClr val="FFFFFF"/>
                </a:solidFill>
              </a:defRPr>
            </a:pPr>
            <a:r>
              <a:t>Conclusion &amp; Project Limitations</a:t>
            </a:r>
          </a:p>
        </p:txBody>
      </p:sp>
      <p:sp>
        <p:nvSpPr>
          <p:cNvPr id="6" name="Rounded Rectangle 5"/>
          <p:cNvSpPr/>
          <p:nvPr/>
        </p:nvSpPr>
        <p:spPr>
          <a:xfrm>
            <a:off x="731520" y="1280160"/>
            <a:ext cx="5120640" cy="50292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19"/>
            <a:ext cx="4663440" cy="365760"/>
          </a:xfrm>
          <a:prstGeom prst="rect">
            <a:avLst/>
          </a:prstGeom>
          <a:noFill/>
        </p:spPr>
        <p:txBody>
          <a:bodyPr wrap="none">
            <a:spAutoFit/>
          </a:bodyPr>
          <a:lstStyle/>
          <a:p>
            <a:pPr>
              <a:defRPr sz="1400" b="1">
                <a:solidFill>
                  <a:srgbClr val="182B49"/>
                </a:solidFill>
              </a:defRPr>
            </a:pPr>
            <a:r>
              <a:t>1. Executive Conclusion</a:t>
            </a:r>
          </a:p>
        </p:txBody>
      </p:sp>
      <p:sp>
        <p:nvSpPr>
          <p:cNvPr id="8" name="TextBox 7"/>
          <p:cNvSpPr txBox="1"/>
          <p:nvPr/>
        </p:nvSpPr>
        <p:spPr>
          <a:xfrm>
            <a:off x="914400" y="1828800"/>
            <a:ext cx="4754880" cy="4297680"/>
          </a:xfrm>
          <a:prstGeom prst="rect">
            <a:avLst/>
          </a:prstGeom>
          <a:noFill/>
        </p:spPr>
        <p:txBody>
          <a:bodyPr wrap="square">
            <a:spAutoFit/>
          </a:bodyPr>
          <a:lstStyle/>
          <a:p>
            <a:r>
              <a:t>• Synthesis of Findings:</a:t>
            </a:r>
          </a:p>
          <a:p>
            <a:r>
              <a:t>  Bike-sharing demand is not random; it is governed by predictable temporal schedules   and thermal thresholds.</a:t>
            </a:r>
          </a:p>
          <a:p/>
          <a:p>
            <a:r>
              <a:t>• Methodological Rigor:</a:t>
            </a:r>
          </a:p>
          <a:p>
            <a:r>
              <a:t>  EDA was validated by 6 formal hypothesis tests and supported by an 89% accurate   Random Forest regressor.</a:t>
            </a:r>
          </a:p>
          <a:p/>
          <a:p>
            <a:r>
              <a:t>• Actionable Value:</a:t>
            </a:r>
          </a:p>
          <a:p>
            <a:r>
              <a:t>  The analysis delivers concrete, low-cost operational improvements in dock rebalancing,   fleet scaling, and customer segmentation.</a:t>
            </a:r>
          </a:p>
        </p:txBody>
      </p:sp>
      <p:sp>
        <p:nvSpPr>
          <p:cNvPr id="9" name="Rounded Rectangle 8"/>
          <p:cNvSpPr/>
          <p:nvPr/>
        </p:nvSpPr>
        <p:spPr>
          <a:xfrm>
            <a:off x="6309360" y="1280160"/>
            <a:ext cx="5120640" cy="50292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417319"/>
            <a:ext cx="4663440" cy="365760"/>
          </a:xfrm>
          <a:prstGeom prst="rect">
            <a:avLst/>
          </a:prstGeom>
          <a:noFill/>
        </p:spPr>
        <p:txBody>
          <a:bodyPr wrap="none">
            <a:spAutoFit/>
          </a:bodyPr>
          <a:lstStyle/>
          <a:p>
            <a:pPr>
              <a:defRPr sz="1400" b="1">
                <a:solidFill>
                  <a:srgbClr val="182B49"/>
                </a:solidFill>
              </a:defRPr>
            </a:pPr>
            <a:r>
              <a:t>2. Study Limitations</a:t>
            </a:r>
          </a:p>
        </p:txBody>
      </p:sp>
      <p:sp>
        <p:nvSpPr>
          <p:cNvPr id="11" name="TextBox 10"/>
          <p:cNvSpPr txBox="1"/>
          <p:nvPr/>
        </p:nvSpPr>
        <p:spPr>
          <a:xfrm>
            <a:off x="6492240" y="1828800"/>
            <a:ext cx="4754880" cy="4297680"/>
          </a:xfrm>
          <a:prstGeom prst="rect">
            <a:avLst/>
          </a:prstGeom>
          <a:noFill/>
        </p:spPr>
        <p:txBody>
          <a:bodyPr wrap="square">
            <a:spAutoFit/>
          </a:bodyPr>
          <a:lstStyle/>
          <a:p>
            <a:r>
              <a:t>• 1. Network Aggregation:</a:t>
            </a:r>
          </a:p>
          <a:p>
            <a:r>
              <a:t>  The dataset aggregates rides across the entire city. Localized station bottlenecks   and origin-destination (OD) routes were not available.</a:t>
            </a:r>
          </a:p>
          <a:p/>
          <a:p>
            <a:r>
              <a:t>• 2. Temporal Scope:</a:t>
            </a:r>
          </a:p>
          <a:p>
            <a:r>
              <a:t>  Data covers 2011–2012. Long-term post-2012 macro market dynamics, electric bikes (e-bikes),   and ride-hailing services (Uber/Lyft) are not captured.</a:t>
            </a:r>
          </a:p>
          <a:p/>
          <a:p>
            <a:r>
              <a:t>• 3. Rider Demographics:</a:t>
            </a:r>
          </a:p>
          <a:p>
            <a:r>
              <a:t>  User age, gender, trip duration, and pricing tiers were omitted due to privacy constraints.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none">
            <a:spAutoFit/>
          </a:bodyPr>
          <a:lstStyle/>
          <a:p>
            <a:pPr>
              <a:defRPr sz="1000" b="1">
                <a:solidFill>
                  <a:srgbClr val="107C8A"/>
                </a:solidFill>
              </a:defRPr>
            </a:pPr>
            <a:r>
              <a:t>SLIDE 11 OF 12</a:t>
            </a:r>
          </a:p>
        </p:txBody>
      </p:sp>
      <p:sp>
        <p:nvSpPr>
          <p:cNvPr id="5" name="TextBox 4"/>
          <p:cNvSpPr txBox="1"/>
          <p:nvPr/>
        </p:nvSpPr>
        <p:spPr>
          <a:xfrm>
            <a:off x="731520" y="365760"/>
            <a:ext cx="10698480" cy="548640"/>
          </a:xfrm>
          <a:prstGeom prst="rect">
            <a:avLst/>
          </a:prstGeom>
          <a:noFill/>
        </p:spPr>
        <p:txBody>
          <a:bodyPr wrap="none">
            <a:spAutoFit/>
          </a:bodyPr>
          <a:lstStyle/>
          <a:p>
            <a:pPr>
              <a:defRPr sz="2200" b="1">
                <a:solidFill>
                  <a:srgbClr val="FFFFFF"/>
                </a:solidFill>
              </a:defRPr>
            </a:pPr>
            <a:r>
              <a:t>Future Enhancements — Scaling to an Enterprise Transit System</a:t>
            </a:r>
          </a:p>
        </p:txBody>
      </p:sp>
      <p:sp>
        <p:nvSpPr>
          <p:cNvPr id="6" name="Rounded Rectangle 5"/>
          <p:cNvSpPr/>
          <p:nvPr/>
        </p:nvSpPr>
        <p:spPr>
          <a:xfrm>
            <a:off x="731520" y="1280160"/>
            <a:ext cx="5120640" cy="2468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19"/>
            <a:ext cx="4663440" cy="365760"/>
          </a:xfrm>
          <a:prstGeom prst="rect">
            <a:avLst/>
          </a:prstGeom>
          <a:noFill/>
        </p:spPr>
        <p:txBody>
          <a:bodyPr wrap="none">
            <a:spAutoFit/>
          </a:bodyPr>
          <a:lstStyle/>
          <a:p>
            <a:pPr>
              <a:defRPr sz="1400" b="1">
                <a:solidFill>
                  <a:srgbClr val="107C8A"/>
                </a:solidFill>
              </a:defRPr>
            </a:pPr>
            <a:r>
              <a:t>1. GIS Spatial Route Optimization</a:t>
            </a:r>
          </a:p>
        </p:txBody>
      </p:sp>
      <p:sp>
        <p:nvSpPr>
          <p:cNvPr id="8" name="TextBox 7"/>
          <p:cNvSpPr txBox="1"/>
          <p:nvPr/>
        </p:nvSpPr>
        <p:spPr>
          <a:xfrm>
            <a:off x="914400" y="1783080"/>
            <a:ext cx="4754880" cy="1828800"/>
          </a:xfrm>
          <a:prstGeom prst="rect">
            <a:avLst/>
          </a:prstGeom>
          <a:noFill/>
        </p:spPr>
        <p:txBody>
          <a:bodyPr wrap="square">
            <a:spAutoFit/>
          </a:bodyPr>
          <a:lstStyle/>
          <a:p>
            <a:pPr>
              <a:defRPr sz="1300">
                <a:solidFill>
                  <a:srgbClr val="323232"/>
                </a:solidFill>
              </a:defRPr>
            </a:pPr>
            <a:r>
              <a:t>Integrate station GPS coordinates and street topology to calculate shortest-path rebalancing truck dispatch routes using Dijkstra / Graph Neural Networks.</a:t>
            </a:r>
          </a:p>
        </p:txBody>
      </p:sp>
      <p:sp>
        <p:nvSpPr>
          <p:cNvPr id="9" name="Rounded Rectangle 8"/>
          <p:cNvSpPr/>
          <p:nvPr/>
        </p:nvSpPr>
        <p:spPr>
          <a:xfrm>
            <a:off x="6309360" y="1280160"/>
            <a:ext cx="5120640" cy="2468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417319"/>
            <a:ext cx="4663440" cy="365760"/>
          </a:xfrm>
          <a:prstGeom prst="rect">
            <a:avLst/>
          </a:prstGeom>
          <a:noFill/>
        </p:spPr>
        <p:txBody>
          <a:bodyPr wrap="none">
            <a:spAutoFit/>
          </a:bodyPr>
          <a:lstStyle/>
          <a:p>
            <a:pPr>
              <a:defRPr sz="1400" b="1">
                <a:solidFill>
                  <a:srgbClr val="107C8A"/>
                </a:solidFill>
              </a:defRPr>
            </a:pPr>
            <a:r>
              <a:t>2. Deep Learning Sequence Models</a:t>
            </a:r>
          </a:p>
        </p:txBody>
      </p:sp>
      <p:sp>
        <p:nvSpPr>
          <p:cNvPr id="11" name="TextBox 10"/>
          <p:cNvSpPr txBox="1"/>
          <p:nvPr/>
        </p:nvSpPr>
        <p:spPr>
          <a:xfrm>
            <a:off x="6492240" y="1783080"/>
            <a:ext cx="4754880" cy="1828800"/>
          </a:xfrm>
          <a:prstGeom prst="rect">
            <a:avLst/>
          </a:prstGeom>
          <a:noFill/>
        </p:spPr>
        <p:txBody>
          <a:bodyPr wrap="square">
            <a:spAutoFit/>
          </a:bodyPr>
          <a:lstStyle/>
          <a:p>
            <a:pPr>
              <a:defRPr sz="1300">
                <a:solidFill>
                  <a:srgbClr val="323232"/>
                </a:solidFill>
              </a:defRPr>
            </a:pPr>
            <a:r>
              <a:t>Implement LSTM, GRU, or Temporal Fusion Transformers (TFT) to produce fine-grained 15-minute ahead demand forecasts taking historical sequence lags into account.</a:t>
            </a:r>
          </a:p>
        </p:txBody>
      </p:sp>
      <p:sp>
        <p:nvSpPr>
          <p:cNvPr id="12" name="Rounded Rectangle 11"/>
          <p:cNvSpPr/>
          <p:nvPr/>
        </p:nvSpPr>
        <p:spPr>
          <a:xfrm>
            <a:off x="731520" y="3840480"/>
            <a:ext cx="5120640" cy="2468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977640"/>
            <a:ext cx="4663440" cy="365760"/>
          </a:xfrm>
          <a:prstGeom prst="rect">
            <a:avLst/>
          </a:prstGeom>
          <a:noFill/>
        </p:spPr>
        <p:txBody>
          <a:bodyPr wrap="none">
            <a:spAutoFit/>
          </a:bodyPr>
          <a:lstStyle/>
          <a:p>
            <a:pPr>
              <a:defRPr sz="1400" b="1">
                <a:solidFill>
                  <a:srgbClr val="107C8A"/>
                </a:solidFill>
              </a:defRPr>
            </a:pPr>
            <a:r>
              <a:t>3. Dynamic User Incentives</a:t>
            </a:r>
          </a:p>
        </p:txBody>
      </p:sp>
      <p:sp>
        <p:nvSpPr>
          <p:cNvPr id="14" name="TextBox 13"/>
          <p:cNvSpPr txBox="1"/>
          <p:nvPr/>
        </p:nvSpPr>
        <p:spPr>
          <a:xfrm>
            <a:off x="914400" y="4343400"/>
            <a:ext cx="4754880" cy="1828800"/>
          </a:xfrm>
          <a:prstGeom prst="rect">
            <a:avLst/>
          </a:prstGeom>
          <a:noFill/>
        </p:spPr>
        <p:txBody>
          <a:bodyPr wrap="square">
            <a:spAutoFit/>
          </a:bodyPr>
          <a:lstStyle/>
          <a:p>
            <a:pPr>
              <a:defRPr sz="1300">
                <a:solidFill>
                  <a:srgbClr val="323232"/>
                </a:solidFill>
              </a:defRPr>
            </a:pPr>
            <a:r>
              <a:t>Gamify returns by offering micro-credits or free rides to users who pick up bikes from overflowing docks and return them to empty docks.</a:t>
            </a:r>
          </a:p>
        </p:txBody>
      </p:sp>
      <p:sp>
        <p:nvSpPr>
          <p:cNvPr id="15" name="Rounded Rectangle 14"/>
          <p:cNvSpPr/>
          <p:nvPr/>
        </p:nvSpPr>
        <p:spPr>
          <a:xfrm>
            <a:off x="6309360" y="3840480"/>
            <a:ext cx="5120640" cy="2468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3977640"/>
            <a:ext cx="4663440" cy="365760"/>
          </a:xfrm>
          <a:prstGeom prst="rect">
            <a:avLst/>
          </a:prstGeom>
          <a:noFill/>
        </p:spPr>
        <p:txBody>
          <a:bodyPr wrap="none">
            <a:spAutoFit/>
          </a:bodyPr>
          <a:lstStyle/>
          <a:p>
            <a:pPr>
              <a:defRPr sz="1400" b="1">
                <a:solidFill>
                  <a:srgbClr val="107C8A"/>
                </a:solidFill>
              </a:defRPr>
            </a:pPr>
            <a:r>
              <a:t>4. Live Weather API Streaming</a:t>
            </a:r>
          </a:p>
        </p:txBody>
      </p:sp>
      <p:sp>
        <p:nvSpPr>
          <p:cNvPr id="17" name="TextBox 16"/>
          <p:cNvSpPr txBox="1"/>
          <p:nvPr/>
        </p:nvSpPr>
        <p:spPr>
          <a:xfrm>
            <a:off x="6492240" y="4343400"/>
            <a:ext cx="4754880" cy="1828800"/>
          </a:xfrm>
          <a:prstGeom prst="rect">
            <a:avLst/>
          </a:prstGeom>
          <a:noFill/>
        </p:spPr>
        <p:txBody>
          <a:bodyPr wrap="square">
            <a:spAutoFit/>
          </a:bodyPr>
          <a:lstStyle/>
          <a:p>
            <a:pPr>
              <a:defRPr sz="1300">
                <a:solidFill>
                  <a:srgbClr val="323232"/>
                </a:solidFill>
              </a:defRPr>
            </a:pPr>
            <a:r>
              <a:t>Deploy a live OpenWeatherMap API pipeline feeding 7-day meteorological forecasts directly into the operational model for automated staging.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none">
            <a:spAutoFit/>
          </a:bodyPr>
          <a:lstStyle/>
          <a:p>
            <a:pPr>
              <a:defRPr sz="1000" b="1">
                <a:solidFill>
                  <a:srgbClr val="107C8A"/>
                </a:solidFill>
              </a:defRPr>
            </a:pPr>
            <a:r>
              <a:t>SLIDE 12 OF 12</a:t>
            </a:r>
          </a:p>
        </p:txBody>
      </p:sp>
      <p:sp>
        <p:nvSpPr>
          <p:cNvPr id="5" name="TextBox 4"/>
          <p:cNvSpPr txBox="1"/>
          <p:nvPr/>
        </p:nvSpPr>
        <p:spPr>
          <a:xfrm>
            <a:off x="731520" y="365760"/>
            <a:ext cx="10698480" cy="548640"/>
          </a:xfrm>
          <a:prstGeom prst="rect">
            <a:avLst/>
          </a:prstGeom>
          <a:noFill/>
        </p:spPr>
        <p:txBody>
          <a:bodyPr wrap="none">
            <a:spAutoFit/>
          </a:bodyPr>
          <a:lstStyle/>
          <a:p>
            <a:pPr>
              <a:defRPr sz="2200" b="1">
                <a:solidFill>
                  <a:srgbClr val="FFFFFF"/>
                </a:solidFill>
              </a:defRPr>
            </a:pPr>
            <a:r>
              <a:t>References &amp; Academic Attribution</a:t>
            </a:r>
          </a:p>
        </p:txBody>
      </p:sp>
      <p:sp>
        <p:nvSpPr>
          <p:cNvPr id="6" name="Rounded Rectangle 5"/>
          <p:cNvSpPr/>
          <p:nvPr/>
        </p:nvSpPr>
        <p:spPr>
          <a:xfrm>
            <a:off x="731520" y="1280160"/>
            <a:ext cx="10698480" cy="50292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19"/>
            <a:ext cx="10241280" cy="365760"/>
          </a:xfrm>
          <a:prstGeom prst="rect">
            <a:avLst/>
          </a:prstGeom>
          <a:noFill/>
        </p:spPr>
        <p:txBody>
          <a:bodyPr wrap="none">
            <a:spAutoFit/>
          </a:bodyPr>
          <a:lstStyle/>
          <a:p>
            <a:pPr>
              <a:defRPr sz="1400" b="1">
                <a:solidFill>
                  <a:srgbClr val="182B49"/>
                </a:solidFill>
              </a:defRPr>
            </a:pPr>
            <a:r>
              <a:t>Academic &amp; Technical Citations</a:t>
            </a:r>
          </a:p>
        </p:txBody>
      </p:sp>
      <p:sp>
        <p:nvSpPr>
          <p:cNvPr id="8" name="TextBox 7"/>
          <p:cNvSpPr txBox="1"/>
          <p:nvPr/>
        </p:nvSpPr>
        <p:spPr>
          <a:xfrm>
            <a:off x="1005840" y="1828800"/>
            <a:ext cx="10149840" cy="4297680"/>
          </a:xfrm>
          <a:prstGeom prst="rect">
            <a:avLst/>
          </a:prstGeom>
          <a:noFill/>
        </p:spPr>
        <p:txBody>
          <a:bodyPr wrap="square">
            <a:spAutoFit/>
          </a:bodyPr>
          <a:lstStyle/>
          <a:p>
            <a:r>
              <a:t>1. Dataset Attribution:</a:t>
            </a:r>
          </a:p>
          <a:p>
            <a:r>
              <a:t>   Fanaee-T, Hadi, and Gama, Joao (2014). 'Event labeling combining ensemble detectors and background knowledge.'    Progress in Artificial Intelligence, Springer Berlin Heidelberg, Vol. 2(2), pp. 113–127. DOI: 10.1007/s13748-013-0040-3.</a:t>
            </a:r>
          </a:p>
          <a:p/>
          <a:p>
            <a:r>
              <a:t>2. Public Repository:</a:t>
            </a:r>
          </a:p>
          <a:p>
            <a:r>
              <a:t>   UCI Machine Learning Repository: Capital Bikeshare Demand Dataset.</a:t>
            </a:r>
          </a:p>
          <a:p>
            <a:r>
              <a:t>   URL: https://archive.ics.uci.edu/dataset/275/bike+sharing+dataset (DOI: 10.24432/C5W894)</a:t>
            </a:r>
          </a:p>
          <a:p/>
          <a:p>
            <a:r>
              <a:t>3. Statistical &amp; Machine Learning Frameworks:</a:t>
            </a:r>
          </a:p>
          <a:p>
            <a:r>
              <a:t>   • McKinney, W. (2010). 'Data Structures for Statistical Computing in Python.' Proceedings of the 9th Python in Science Conference.</a:t>
            </a:r>
          </a:p>
          <a:p>
            <a:r>
              <a:t>   • Pedregosa, F., et al. (2011). 'Scikit-learn: Machine Learning in Python.' Journal of Machine Learning Research, 12, pp. 2825–2830.</a:t>
            </a:r>
          </a:p>
          <a:p>
            <a:r>
              <a:t>   • Virtanen, P., et al. (2020). 'SciPy 1.0: Fundamental Algorithms for Scientific Computing in Python.' Nature Methods, 17, pp. 261–272.</a:t>
            </a:r>
          </a:p>
          <a:p/>
          <a:p>
            <a:r>
              <a:t>4. Institutional Context:</a:t>
            </a:r>
          </a:p>
          <a:p>
            <a:r>
              <a:t>   Capital Bikeshare Operations &amp; Municipal Open Data, District Department of Transportation (DDOT), Washington D.C., USA.</a:t>
            </a:r>
          </a:p>
          <a:p/>
          <a:p>
            <a:r>
              <a:t>Thank you! We welcome any questions from the evaluation panel.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